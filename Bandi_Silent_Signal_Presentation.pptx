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" name="Google Shape;4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e331307eb6_0_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g3e331307eb6_0_3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g3e331307eb6_0_3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e331307eb6_0_7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g3e331307eb6_0_7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g3e331307eb6_0_7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e331307eb6_0_8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0" name="Google Shape;230;g3e331307eb6_0_8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g3e331307eb6_0_8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9" name="Google Shape;23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0" name="Google Shape;30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e331307eb6_0_9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3" name="Google Shape;353;g3e331307eb6_0_9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g3e331307eb6_0_9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e331307eb6_0_10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1" name="Google Shape;361;g3e331307eb6_0_10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g3e331307eb6_0_10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9" name="Google Shape;36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7" name="Google Shape;39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7" name="Google Shape;42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7" name="Google Shape;45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12.png"/><Relationship Id="rId6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12.png"/><Relationship Id="rId11" Type="http://schemas.openxmlformats.org/officeDocument/2006/relationships/image" Target="../media/image25.png"/><Relationship Id="rId10" Type="http://schemas.openxmlformats.org/officeDocument/2006/relationships/image" Target="../media/image5.png"/><Relationship Id="rId9" Type="http://schemas.openxmlformats.org/officeDocument/2006/relationships/image" Target="../media/image27.png"/><Relationship Id="rId5" Type="http://schemas.openxmlformats.org/officeDocument/2006/relationships/image" Target="../media/image9.png"/><Relationship Id="rId6" Type="http://schemas.openxmlformats.org/officeDocument/2006/relationships/image" Target="../media/image18.png"/><Relationship Id="rId7" Type="http://schemas.openxmlformats.org/officeDocument/2006/relationships/image" Target="../media/image4.png"/><Relationship Id="rId8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14.png"/><Relationship Id="rId5" Type="http://schemas.openxmlformats.org/officeDocument/2006/relationships/image" Target="../media/image5.png"/><Relationship Id="rId6" Type="http://schemas.openxmlformats.org/officeDocument/2006/relationships/image" Target="../media/image1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image" Target="../media/image27.png"/><Relationship Id="rId11" Type="http://schemas.openxmlformats.org/officeDocument/2006/relationships/image" Target="../media/image49.jpg"/><Relationship Id="rId10" Type="http://schemas.openxmlformats.org/officeDocument/2006/relationships/hyperlink" Target="http://drive.google.com/file/d/1G0RkGnywEDg9yUti-QQBXjIDdFe2ySCV/view" TargetMode="External"/><Relationship Id="rId9" Type="http://schemas.openxmlformats.org/officeDocument/2006/relationships/image" Target="../media/image4.png"/><Relationship Id="rId5" Type="http://schemas.openxmlformats.org/officeDocument/2006/relationships/image" Target="../media/image6.png"/><Relationship Id="rId6" Type="http://schemas.openxmlformats.org/officeDocument/2006/relationships/image" Target="../media/image5.png"/><Relationship Id="rId7" Type="http://schemas.openxmlformats.org/officeDocument/2006/relationships/image" Target="../media/image12.png"/><Relationship Id="rId8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27.png"/><Relationship Id="rId5" Type="http://schemas.openxmlformats.org/officeDocument/2006/relationships/image" Target="../media/image6.png"/><Relationship Id="rId6" Type="http://schemas.openxmlformats.org/officeDocument/2006/relationships/image" Target="../media/image14.png"/><Relationship Id="rId7" Type="http://schemas.openxmlformats.org/officeDocument/2006/relationships/image" Target="../media/image46.png"/><Relationship Id="rId8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hyperlink" Target="http://drive.google.com/file/d/1kQ5ffjHGDzon_p7rUNI_z8TKdL2iVX53/view" TargetMode="External"/><Relationship Id="rId4" Type="http://schemas.openxmlformats.org/officeDocument/2006/relationships/image" Target="../media/image70.jpg"/><Relationship Id="rId5" Type="http://schemas.openxmlformats.org/officeDocument/2006/relationships/hyperlink" Target="http://drive.google.com/file/d/1VlEzV2btgcShY73a_-evTduPJfFrzVds/view" TargetMode="External"/><Relationship Id="rId6" Type="http://schemas.openxmlformats.org/officeDocument/2006/relationships/image" Target="../media/image69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Relationship Id="rId4" Type="http://schemas.openxmlformats.org/officeDocument/2006/relationships/image" Target="../media/image12.png"/><Relationship Id="rId10" Type="http://schemas.openxmlformats.org/officeDocument/2006/relationships/image" Target="../media/image25.png"/><Relationship Id="rId9" Type="http://schemas.openxmlformats.org/officeDocument/2006/relationships/image" Target="../media/image27.png"/><Relationship Id="rId5" Type="http://schemas.openxmlformats.org/officeDocument/2006/relationships/image" Target="../media/image9.png"/><Relationship Id="rId6" Type="http://schemas.openxmlformats.org/officeDocument/2006/relationships/image" Target="../media/image18.png"/><Relationship Id="rId7" Type="http://schemas.openxmlformats.org/officeDocument/2006/relationships/image" Target="../media/image2.png"/><Relationship Id="rId8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hyperlink" Target="http://drive.google.com/file/d/1rFBFuzG4Rl9pnNpvIbITo-irwLSQ-MLs/view" TargetMode="External"/><Relationship Id="rId6" Type="http://schemas.openxmlformats.org/officeDocument/2006/relationships/image" Target="../media/image4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Relationship Id="rId4" Type="http://schemas.openxmlformats.org/officeDocument/2006/relationships/image" Target="../media/image27.png"/><Relationship Id="rId5" Type="http://schemas.openxmlformats.org/officeDocument/2006/relationships/image" Target="../media/image6.png"/><Relationship Id="rId6" Type="http://schemas.openxmlformats.org/officeDocument/2006/relationships/image" Target="../media/image46.png"/><Relationship Id="rId7" Type="http://schemas.openxmlformats.org/officeDocument/2006/relationships/image" Target="../media/image7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png"/><Relationship Id="rId4" Type="http://schemas.openxmlformats.org/officeDocument/2006/relationships/image" Target="../media/image8.png"/><Relationship Id="rId5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F1E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4754880" cy="5143500"/>
          </a:xfrm>
          <a:prstGeom prst="rect">
            <a:avLst/>
          </a:prstGeom>
          <a:solidFill>
            <a:srgbClr val="111827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FF87"/>
          </a:solidFill>
          <a:ln cap="flat" cmpd="sng" w="12700">
            <a:solidFill>
              <a:srgbClr val="00FF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502920" y="457200"/>
            <a:ext cx="1664208" cy="256032"/>
          </a:xfrm>
          <a:prstGeom prst="rect">
            <a:avLst/>
          </a:prstGeom>
          <a:solidFill>
            <a:srgbClr val="00CC6A"/>
          </a:solidFill>
          <a:ln cap="flat" cmpd="sng" w="12700">
            <a:solidFill>
              <a:srgbClr val="00CC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502920" y="457200"/>
            <a:ext cx="166420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0F1E"/>
              </a:buClr>
              <a:buSzPts val="800"/>
              <a:buFont typeface="Calibri"/>
              <a:buNone/>
            </a:pPr>
            <a:r>
              <a:rPr 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Special Topics in Data Science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502920" y="822960"/>
            <a:ext cx="40233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400"/>
              <a:buFont typeface="Impact"/>
              <a:buNone/>
            </a:pPr>
            <a:r>
              <a:rPr b="1" i="0" lang="en-US" sz="6400" u="none" cap="none" strike="noStrike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SILENT</a:t>
            </a:r>
            <a:endParaRPr b="0" i="0" sz="6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502920" y="1783080"/>
            <a:ext cx="40233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FF87"/>
              </a:buClr>
              <a:buSzPts val="6400"/>
              <a:buFont typeface="Impact"/>
              <a:buNone/>
            </a:pPr>
            <a:r>
              <a:rPr b="1" i="0" lang="en-US" sz="6400" u="none" cap="none" strike="noStrike">
                <a:solidFill>
                  <a:srgbClr val="00FF87"/>
                </a:solidFill>
                <a:latin typeface="Impact"/>
                <a:ea typeface="Impact"/>
                <a:cs typeface="Impact"/>
                <a:sym typeface="Impact"/>
              </a:rPr>
              <a:t>SIGNAL</a:t>
            </a:r>
            <a:endParaRPr b="0" i="0" sz="6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502920" y="2834640"/>
            <a:ext cx="4023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600"/>
              <a:buFont typeface="Trebuchet MS"/>
              <a:buNone/>
            </a:pPr>
            <a:r>
              <a:rPr b="0" i="0" lang="en-US" sz="1600" u="none" cap="none" strike="noStrike">
                <a:solidFill>
                  <a:srgbClr val="E2E8F0"/>
                </a:solidFill>
                <a:latin typeface="Trebuchet MS"/>
                <a:ea typeface="Trebuchet MS"/>
                <a:cs typeface="Trebuchet MS"/>
                <a:sym typeface="Trebuchet MS"/>
              </a:rPr>
              <a:t>Gesture Recognition System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502920" y="3291840"/>
            <a:ext cx="3200400" cy="27432"/>
          </a:xfrm>
          <a:prstGeom prst="rect">
            <a:avLst/>
          </a:prstGeom>
          <a:solidFill>
            <a:srgbClr val="94A3B8"/>
          </a:solidFill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502920" y="3383280"/>
            <a:ext cx="4023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Motion BiLSTM · MediaPipe · Jetson Edge AI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502920" y="4663440"/>
            <a:ext cx="4023360" cy="32004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921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Char char="-"/>
            </a:pPr>
            <a:r>
              <a:rPr b="1"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Venu Bandi</a:t>
            </a:r>
            <a:endParaRPr b="1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5029200" y="36576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FF87"/>
              </a:buClr>
              <a:buSzPts val="900"/>
              <a:buFont typeface="Trebuchet MS"/>
              <a:buNone/>
            </a:pPr>
            <a:r>
              <a:rPr b="1" i="0" lang="en-US" sz="900" u="none" cap="none" strike="noStrike">
                <a:solidFill>
                  <a:srgbClr val="00FF87"/>
                </a:solidFill>
                <a:latin typeface="Trebuchet MS"/>
                <a:ea typeface="Trebuchet MS"/>
                <a:cs typeface="Trebuchet MS"/>
                <a:sym typeface="Trebuchet MS"/>
              </a:rPr>
              <a:t>SCENARIO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5029200" y="822960"/>
            <a:ext cx="3840480" cy="822960"/>
          </a:xfrm>
          <a:prstGeom prst="rect">
            <a:avLst/>
          </a:prstGeom>
          <a:solidFill>
            <a:srgbClr val="1A2235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8" name="Google Shape;2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12080" y="100584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3"/>
          <p:cNvSpPr/>
          <p:nvPr/>
        </p:nvSpPr>
        <p:spPr>
          <a:xfrm>
            <a:off x="5760720" y="932688"/>
            <a:ext cx="29260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Captured operative on enemy media broadcast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5029200" y="1828800"/>
            <a:ext cx="3840480" cy="822960"/>
          </a:xfrm>
          <a:prstGeom prst="rect">
            <a:avLst/>
          </a:prstGeom>
          <a:solidFill>
            <a:srgbClr val="1A2235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1" name="Google Shape;31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12080" y="201168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3"/>
          <p:cNvSpPr/>
          <p:nvPr/>
        </p:nvSpPr>
        <p:spPr>
          <a:xfrm>
            <a:off x="5760720" y="1938528"/>
            <a:ext cx="29260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Watched — cannot speak freely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3"/>
          <p:cNvSpPr/>
          <p:nvPr/>
        </p:nvSpPr>
        <p:spPr>
          <a:xfrm>
            <a:off x="5029200" y="2834640"/>
            <a:ext cx="3840480" cy="822960"/>
          </a:xfrm>
          <a:prstGeom prst="rect">
            <a:avLst/>
          </a:prstGeom>
          <a:solidFill>
            <a:srgbClr val="1A2235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4" name="Google Shape;34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12080" y="301752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3"/>
          <p:cNvSpPr/>
          <p:nvPr/>
        </p:nvSpPr>
        <p:spPr>
          <a:xfrm>
            <a:off x="5760720" y="2944368"/>
            <a:ext cx="29260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9 silent gestures encode critical intel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3"/>
          <p:cNvSpPr/>
          <p:nvPr/>
        </p:nvSpPr>
        <p:spPr>
          <a:xfrm>
            <a:off x="5029200" y="3840480"/>
            <a:ext cx="3840480" cy="822960"/>
          </a:xfrm>
          <a:prstGeom prst="rect">
            <a:avLst/>
          </a:prstGeom>
          <a:solidFill>
            <a:srgbClr val="1A2235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" name="Google Shape;37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212080" y="402336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3"/>
          <p:cNvSpPr/>
          <p:nvPr/>
        </p:nvSpPr>
        <p:spPr>
          <a:xfrm>
            <a:off x="5760720" y="3950208"/>
            <a:ext cx="29260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Jetson AI decodes signals in real-time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3"/>
          <p:cNvSpPr/>
          <p:nvPr/>
        </p:nvSpPr>
        <p:spPr>
          <a:xfrm>
            <a:off x="5029200" y="4754880"/>
            <a:ext cx="164592" cy="164592"/>
          </a:xfrm>
          <a:prstGeom prst="ellipse">
            <a:avLst/>
          </a:prstGeom>
          <a:solidFill>
            <a:srgbClr val="00FF87"/>
          </a:solidFill>
          <a:ln cap="flat" cmpd="sng" w="12700">
            <a:solidFill>
              <a:srgbClr val="0A0F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3"/>
          <p:cNvSpPr/>
          <p:nvPr/>
        </p:nvSpPr>
        <p:spPr>
          <a:xfrm>
            <a:off x="5349240" y="4754880"/>
            <a:ext cx="164592" cy="164592"/>
          </a:xfrm>
          <a:prstGeom prst="ellipse">
            <a:avLst/>
          </a:prstGeom>
          <a:solidFill>
            <a:srgbClr val="94A3B8"/>
          </a:solidFill>
          <a:ln cap="flat" cmpd="sng" w="12700">
            <a:solidFill>
              <a:srgbClr val="0A0F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3"/>
          <p:cNvSpPr/>
          <p:nvPr/>
        </p:nvSpPr>
        <p:spPr>
          <a:xfrm>
            <a:off x="5669280" y="4754880"/>
            <a:ext cx="164592" cy="164592"/>
          </a:xfrm>
          <a:prstGeom prst="ellipse">
            <a:avLst/>
          </a:prstGeom>
          <a:solidFill>
            <a:srgbClr val="94A3B8"/>
          </a:solidFill>
          <a:ln cap="flat" cmpd="sng" w="12700">
            <a:solidFill>
              <a:srgbClr val="0A0F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F1E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4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FF87"/>
          </a:solidFill>
          <a:ln cap="flat" cmpd="sng" w="12700">
            <a:solidFill>
              <a:srgbClr val="00FF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4"/>
          <p:cNvSpPr/>
          <p:nvPr/>
        </p:nvSpPr>
        <p:spPr>
          <a:xfrm>
            <a:off x="502920" y="5029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Trebuchet MS"/>
              <a:buNone/>
            </a:pPr>
            <a:r>
              <a:rPr b="1" i="0" lang="en-US" sz="25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Goal: Real-Time Silent Gesture Recognition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502920" y="1115568"/>
            <a:ext cx="8138160" cy="22860"/>
          </a:xfrm>
          <a:prstGeom prst="rect">
            <a:avLst/>
          </a:prstGeom>
          <a:solidFill>
            <a:srgbClr val="00FF87"/>
          </a:solidFill>
          <a:ln cap="flat" cmpd="sng" w="12700">
            <a:solidFill>
              <a:srgbClr val="00FF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4"/>
          <p:cNvSpPr/>
          <p:nvPr/>
        </p:nvSpPr>
        <p:spPr>
          <a:xfrm>
            <a:off x="502920" y="228600"/>
            <a:ext cx="969264" cy="256032"/>
          </a:xfrm>
          <a:prstGeom prst="rect">
            <a:avLst/>
          </a:prstGeom>
          <a:solidFill>
            <a:srgbClr val="00CC6A"/>
          </a:solidFill>
          <a:ln cap="flat" cmpd="sng" w="12700">
            <a:solidFill>
              <a:srgbClr val="00CC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502920" y="228600"/>
            <a:ext cx="96926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0F1E"/>
              </a:buClr>
              <a:buSzPts val="800"/>
              <a:buFont typeface="Calibri"/>
              <a:buNone/>
            </a:pPr>
            <a:r>
              <a:rPr b="1" lang="en-US" sz="800">
                <a:solidFill>
                  <a:srgbClr val="0A0F1E"/>
                </a:solidFill>
                <a:latin typeface="Calibri"/>
                <a:ea typeface="Calibri"/>
                <a:cs typeface="Calibri"/>
                <a:sym typeface="Calibri"/>
              </a:rPr>
              <a:t>“I should let them know!”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502920" y="109728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FF87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00FF87"/>
                </a:solidFill>
                <a:latin typeface="Trebuchet MS"/>
                <a:ea typeface="Trebuchet MS"/>
                <a:cs typeface="Trebuchet MS"/>
                <a:sym typeface="Trebuchet MS"/>
              </a:rPr>
              <a:t>9 Emergency Action Classes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502920" y="1554480"/>
            <a:ext cx="2560320" cy="914400"/>
          </a:xfrm>
          <a:prstGeom prst="rect">
            <a:avLst/>
          </a:prstGeom>
          <a:solidFill>
            <a:srgbClr val="1A2235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4"/>
          <p:cNvSpPr/>
          <p:nvPr/>
        </p:nvSpPr>
        <p:spPr>
          <a:xfrm>
            <a:off x="502920" y="1554480"/>
            <a:ext cx="54864" cy="914400"/>
          </a:xfrm>
          <a:prstGeom prst="rect">
            <a:avLst/>
          </a:prstGeom>
          <a:solidFill>
            <a:srgbClr val="FF3B5C"/>
          </a:solidFill>
          <a:ln cap="flat" cmpd="sng" w="12700">
            <a:solidFill>
              <a:srgbClr val="FF3B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6" name="Google Shape;5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7512" y="178308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4"/>
          <p:cNvSpPr/>
          <p:nvPr/>
        </p:nvSpPr>
        <p:spPr>
          <a:xfrm>
            <a:off x="1188720" y="1801368"/>
            <a:ext cx="1737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DANGER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3337560" y="1554480"/>
            <a:ext cx="2560320" cy="914400"/>
          </a:xfrm>
          <a:prstGeom prst="rect">
            <a:avLst/>
          </a:prstGeom>
          <a:solidFill>
            <a:srgbClr val="1A2235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4"/>
          <p:cNvSpPr/>
          <p:nvPr/>
        </p:nvSpPr>
        <p:spPr>
          <a:xfrm>
            <a:off x="3337560" y="1554480"/>
            <a:ext cx="54864" cy="914400"/>
          </a:xfrm>
          <a:prstGeom prst="rect">
            <a:avLst/>
          </a:prstGeom>
          <a:solidFill>
            <a:srgbClr val="00FF87"/>
          </a:solidFill>
          <a:ln cap="flat" cmpd="sng" w="12700">
            <a:solidFill>
              <a:srgbClr val="00FF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0" name="Google Shape;60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02152" y="178308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4"/>
          <p:cNvSpPr/>
          <p:nvPr/>
        </p:nvSpPr>
        <p:spPr>
          <a:xfrm>
            <a:off x="4023360" y="1801368"/>
            <a:ext cx="1737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HELP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6172200" y="1554480"/>
            <a:ext cx="2560320" cy="914400"/>
          </a:xfrm>
          <a:prstGeom prst="rect">
            <a:avLst/>
          </a:prstGeom>
          <a:solidFill>
            <a:srgbClr val="1A2235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4"/>
          <p:cNvSpPr/>
          <p:nvPr/>
        </p:nvSpPr>
        <p:spPr>
          <a:xfrm>
            <a:off x="6172200" y="1554480"/>
            <a:ext cx="54864" cy="914400"/>
          </a:xfrm>
          <a:prstGeom prst="rect">
            <a:avLst/>
          </a:prstGeom>
          <a:solidFill>
            <a:srgbClr val="FF3B5C"/>
          </a:solidFill>
          <a:ln cap="flat" cmpd="sng" w="12700">
            <a:solidFill>
              <a:srgbClr val="FF3B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4" name="Google Shape;64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6792" y="178308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4"/>
          <p:cNvSpPr/>
          <p:nvPr/>
        </p:nvSpPr>
        <p:spPr>
          <a:xfrm>
            <a:off x="6858000" y="1801368"/>
            <a:ext cx="1737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ABORT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502920" y="2651760"/>
            <a:ext cx="2560320" cy="914400"/>
          </a:xfrm>
          <a:prstGeom prst="rect">
            <a:avLst/>
          </a:prstGeom>
          <a:solidFill>
            <a:srgbClr val="1A2235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4"/>
          <p:cNvSpPr/>
          <p:nvPr/>
        </p:nvSpPr>
        <p:spPr>
          <a:xfrm>
            <a:off x="502920" y="2651760"/>
            <a:ext cx="54864" cy="914400"/>
          </a:xfrm>
          <a:prstGeom prst="rect">
            <a:avLst/>
          </a:prstGeom>
          <a:solidFill>
            <a:srgbClr val="00FF87"/>
          </a:solidFill>
          <a:ln cap="flat" cmpd="sng" w="12700">
            <a:solidFill>
              <a:srgbClr val="00FF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8" name="Google Shape;68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7512" y="288036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4"/>
          <p:cNvSpPr/>
          <p:nvPr/>
        </p:nvSpPr>
        <p:spPr>
          <a:xfrm>
            <a:off x="1188720" y="2898648"/>
            <a:ext cx="1737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NEED BACKUP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3337560" y="2651760"/>
            <a:ext cx="2560320" cy="914400"/>
          </a:xfrm>
          <a:prstGeom prst="rect">
            <a:avLst/>
          </a:prstGeom>
          <a:solidFill>
            <a:srgbClr val="1A2235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4"/>
          <p:cNvSpPr/>
          <p:nvPr/>
        </p:nvSpPr>
        <p:spPr>
          <a:xfrm>
            <a:off x="3337560" y="2651760"/>
            <a:ext cx="54864" cy="914400"/>
          </a:xfrm>
          <a:prstGeom prst="rect">
            <a:avLst/>
          </a:prstGeom>
          <a:solidFill>
            <a:srgbClr val="00CC6A"/>
          </a:solidFill>
          <a:ln cap="flat" cmpd="sng" w="12700">
            <a:solidFill>
              <a:srgbClr val="00CC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2" name="Google Shape;72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502152" y="288036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4"/>
          <p:cNvSpPr/>
          <p:nvPr/>
        </p:nvSpPr>
        <p:spPr>
          <a:xfrm>
            <a:off x="4023360" y="2898648"/>
            <a:ext cx="1737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SAFE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6172200" y="2651760"/>
            <a:ext cx="2560320" cy="914400"/>
          </a:xfrm>
          <a:prstGeom prst="rect">
            <a:avLst/>
          </a:prstGeom>
          <a:solidFill>
            <a:srgbClr val="1A2235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4"/>
          <p:cNvSpPr/>
          <p:nvPr/>
        </p:nvSpPr>
        <p:spPr>
          <a:xfrm>
            <a:off x="6172200" y="2651760"/>
            <a:ext cx="54864" cy="914400"/>
          </a:xfrm>
          <a:prstGeom prst="rect">
            <a:avLst/>
          </a:prstGeom>
          <a:solidFill>
            <a:srgbClr val="94A3B8"/>
          </a:solidFill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6" name="Google Shape;76;p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336792" y="288036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4"/>
          <p:cNvSpPr/>
          <p:nvPr/>
        </p:nvSpPr>
        <p:spPr>
          <a:xfrm>
            <a:off x="6858000" y="2898648"/>
            <a:ext cx="1737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STAY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502920" y="3749040"/>
            <a:ext cx="2560320" cy="914400"/>
          </a:xfrm>
          <a:prstGeom prst="rect">
            <a:avLst/>
          </a:prstGeom>
          <a:solidFill>
            <a:srgbClr val="1A2235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4"/>
          <p:cNvSpPr/>
          <p:nvPr/>
        </p:nvSpPr>
        <p:spPr>
          <a:xfrm>
            <a:off x="502920" y="3749040"/>
            <a:ext cx="54864" cy="914400"/>
          </a:xfrm>
          <a:prstGeom prst="rect">
            <a:avLst/>
          </a:prstGeom>
          <a:solidFill>
            <a:srgbClr val="00FF87"/>
          </a:solidFill>
          <a:ln cap="flat" cmpd="sng" w="12700">
            <a:solidFill>
              <a:srgbClr val="00FF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0" name="Google Shape;80;p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67512" y="397764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4"/>
          <p:cNvSpPr/>
          <p:nvPr/>
        </p:nvSpPr>
        <p:spPr>
          <a:xfrm>
            <a:off x="1188720" y="3995928"/>
            <a:ext cx="1737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PROCEED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3337560" y="3749040"/>
            <a:ext cx="2560320" cy="914400"/>
          </a:xfrm>
          <a:prstGeom prst="rect">
            <a:avLst/>
          </a:prstGeom>
          <a:solidFill>
            <a:srgbClr val="1A2235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4"/>
          <p:cNvSpPr/>
          <p:nvPr/>
        </p:nvSpPr>
        <p:spPr>
          <a:xfrm>
            <a:off x="3337560" y="3749040"/>
            <a:ext cx="54864" cy="914400"/>
          </a:xfrm>
          <a:prstGeom prst="rect">
            <a:avLst/>
          </a:prstGeom>
          <a:solidFill>
            <a:srgbClr val="FBBF24"/>
          </a:solidFill>
          <a:ln cap="flat" cmpd="sng" w="12700">
            <a:solidFill>
              <a:srgbClr val="FBB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4" name="Google Shape;84;p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502152" y="397764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4"/>
          <p:cNvSpPr/>
          <p:nvPr/>
        </p:nvSpPr>
        <p:spPr>
          <a:xfrm>
            <a:off x="4023360" y="3995928"/>
            <a:ext cx="1737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WATCHED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6172200" y="3749040"/>
            <a:ext cx="2560320" cy="914400"/>
          </a:xfrm>
          <a:prstGeom prst="rect">
            <a:avLst/>
          </a:prstGeom>
          <a:solidFill>
            <a:srgbClr val="1A2235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4"/>
          <p:cNvSpPr/>
          <p:nvPr/>
        </p:nvSpPr>
        <p:spPr>
          <a:xfrm>
            <a:off x="6172200" y="3749040"/>
            <a:ext cx="54864" cy="914400"/>
          </a:xfrm>
          <a:prstGeom prst="rect">
            <a:avLst/>
          </a:prstGeom>
          <a:solidFill>
            <a:srgbClr val="94A3B8"/>
          </a:solidFill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8" name="Google Shape;88;p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336792" y="397764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4"/>
          <p:cNvSpPr/>
          <p:nvPr/>
        </p:nvSpPr>
        <p:spPr>
          <a:xfrm>
            <a:off x="6858000" y="3995928"/>
            <a:ext cx="1737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NO GESTURE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502920" y="46634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Each class represents a real emergency signal — not just a random label.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F1E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5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FF87"/>
          </a:solidFill>
          <a:ln cap="flat" cmpd="sng" w="12700">
            <a:solidFill>
              <a:srgbClr val="00FF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5"/>
          <p:cNvSpPr/>
          <p:nvPr/>
        </p:nvSpPr>
        <p:spPr>
          <a:xfrm>
            <a:off x="502920" y="5029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Trebuchet MS"/>
              <a:buNone/>
            </a:pPr>
            <a:r>
              <a:rPr b="1" i="0" lang="en-US" sz="25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Data: Custom Gesture Dataset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5"/>
          <p:cNvSpPr/>
          <p:nvPr/>
        </p:nvSpPr>
        <p:spPr>
          <a:xfrm>
            <a:off x="502920" y="1115568"/>
            <a:ext cx="8138160" cy="22860"/>
          </a:xfrm>
          <a:prstGeom prst="rect">
            <a:avLst/>
          </a:prstGeom>
          <a:solidFill>
            <a:srgbClr val="00FF87"/>
          </a:solidFill>
          <a:ln cap="flat" cmpd="sng" w="12700">
            <a:solidFill>
              <a:srgbClr val="00FF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5"/>
          <p:cNvSpPr/>
          <p:nvPr/>
        </p:nvSpPr>
        <p:spPr>
          <a:xfrm>
            <a:off x="502920" y="228600"/>
            <a:ext cx="969264" cy="256032"/>
          </a:xfrm>
          <a:prstGeom prst="rect">
            <a:avLst/>
          </a:prstGeom>
          <a:solidFill>
            <a:srgbClr val="00CC6A"/>
          </a:solidFill>
          <a:ln cap="flat" cmpd="sng" w="12700">
            <a:solidFill>
              <a:srgbClr val="00CC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5"/>
          <p:cNvSpPr/>
          <p:nvPr/>
        </p:nvSpPr>
        <p:spPr>
          <a:xfrm>
            <a:off x="502920" y="228600"/>
            <a:ext cx="96926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0F1E"/>
              </a:buClr>
              <a:buSzPts val="800"/>
              <a:buFont typeface="Calibri"/>
              <a:buNone/>
            </a:pPr>
            <a:r>
              <a:rPr b="1" lang="en-US" sz="800">
                <a:solidFill>
                  <a:srgbClr val="0A0F1E"/>
                </a:solidFill>
                <a:latin typeface="Calibri"/>
                <a:ea typeface="Calibri"/>
                <a:cs typeface="Calibri"/>
                <a:sym typeface="Calibri"/>
              </a:rPr>
              <a:t>“I am the data”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5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5"/>
          <p:cNvSpPr/>
          <p:nvPr/>
        </p:nvSpPr>
        <p:spPr>
          <a:xfrm>
            <a:off x="502920" y="1143000"/>
            <a:ext cx="5029200" cy="713232"/>
          </a:xfrm>
          <a:prstGeom prst="rect">
            <a:avLst/>
          </a:prstGeom>
          <a:solidFill>
            <a:srgbClr val="1A2235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3" name="Google Shape;10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1298448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5"/>
          <p:cNvSpPr/>
          <p:nvPr/>
        </p:nvSpPr>
        <p:spPr>
          <a:xfrm>
            <a:off x="1188720" y="1216152"/>
            <a:ext cx="42062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Custom recorded video sequences — each gesture captured as a short action clip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502920" y="2011680"/>
            <a:ext cx="5029200" cy="713232"/>
          </a:xfrm>
          <a:prstGeom prst="rect">
            <a:avLst/>
          </a:prstGeom>
          <a:solidFill>
            <a:srgbClr val="1A2235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6" name="Google Shape;106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5800" y="2167128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5"/>
          <p:cNvSpPr/>
          <p:nvPr/>
        </p:nvSpPr>
        <p:spPr>
          <a:xfrm>
            <a:off x="1188720" y="2084832"/>
            <a:ext cx="42062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Each video processed into structured keypoints (not raw pixels)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5"/>
          <p:cNvSpPr/>
          <p:nvPr/>
        </p:nvSpPr>
        <p:spPr>
          <a:xfrm>
            <a:off x="502920" y="2880360"/>
            <a:ext cx="5029200" cy="713232"/>
          </a:xfrm>
          <a:prstGeom prst="rect">
            <a:avLst/>
          </a:prstGeom>
          <a:solidFill>
            <a:srgbClr val="1A2235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9" name="Google Shape;109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5800" y="3035808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5"/>
          <p:cNvSpPr/>
          <p:nvPr/>
        </p:nvSpPr>
        <p:spPr>
          <a:xfrm>
            <a:off x="1188720" y="2953512"/>
            <a:ext cx="42062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Face mesh · Hand landmarks · Upper-body posture extracted per frame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5"/>
          <p:cNvSpPr/>
          <p:nvPr/>
        </p:nvSpPr>
        <p:spPr>
          <a:xfrm>
            <a:off x="502920" y="3749040"/>
            <a:ext cx="5029200" cy="713232"/>
          </a:xfrm>
          <a:prstGeom prst="rect">
            <a:avLst/>
          </a:prstGeom>
          <a:solidFill>
            <a:srgbClr val="1A2235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2" name="Google Shape;112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85800" y="3904488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5"/>
          <p:cNvSpPr/>
          <p:nvPr/>
        </p:nvSpPr>
        <p:spPr>
          <a:xfrm>
            <a:off x="1188720" y="3822192"/>
            <a:ext cx="42062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Personalized dataset = strong proof-of-concept, clear path to scale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5"/>
          <p:cNvSpPr/>
          <p:nvPr/>
        </p:nvSpPr>
        <p:spPr>
          <a:xfrm>
            <a:off x="5852160" y="1143000"/>
            <a:ext cx="2926080" cy="1097280"/>
          </a:xfrm>
          <a:prstGeom prst="rect">
            <a:avLst/>
          </a:prstGeom>
          <a:solidFill>
            <a:srgbClr val="111827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5"/>
          <p:cNvSpPr/>
          <p:nvPr/>
        </p:nvSpPr>
        <p:spPr>
          <a:xfrm>
            <a:off x="5852160" y="1143000"/>
            <a:ext cx="54864" cy="1097280"/>
          </a:xfrm>
          <a:prstGeom prst="rect">
            <a:avLst/>
          </a:prstGeom>
          <a:solidFill>
            <a:srgbClr val="00FF87"/>
          </a:solidFill>
          <a:ln cap="flat" cmpd="sng" w="12700">
            <a:solidFill>
              <a:srgbClr val="00FF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5"/>
          <p:cNvSpPr/>
          <p:nvPr/>
        </p:nvSpPr>
        <p:spPr>
          <a:xfrm>
            <a:off x="5989320" y="1252728"/>
            <a:ext cx="26517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FF87"/>
              </a:buClr>
              <a:buSzPts val="4000"/>
              <a:buFont typeface="Impact"/>
              <a:buNone/>
            </a:pPr>
            <a:r>
              <a:rPr b="1" i="0" lang="en-US" sz="4000" u="none" cap="none" strike="noStrike">
                <a:solidFill>
                  <a:srgbClr val="00FF87"/>
                </a:solidFill>
                <a:latin typeface="Impact"/>
                <a:ea typeface="Impact"/>
                <a:cs typeface="Impact"/>
                <a:sym typeface="Impact"/>
              </a:rPr>
              <a:t>9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5989320" y="1856232"/>
            <a:ext cx="2651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Gesture Classes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5"/>
          <p:cNvSpPr/>
          <p:nvPr/>
        </p:nvSpPr>
        <p:spPr>
          <a:xfrm>
            <a:off x="5852160" y="2468880"/>
            <a:ext cx="2926080" cy="1097280"/>
          </a:xfrm>
          <a:prstGeom prst="rect">
            <a:avLst/>
          </a:prstGeom>
          <a:solidFill>
            <a:srgbClr val="111827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5"/>
          <p:cNvSpPr/>
          <p:nvPr/>
        </p:nvSpPr>
        <p:spPr>
          <a:xfrm>
            <a:off x="5852160" y="2468880"/>
            <a:ext cx="54864" cy="1097280"/>
          </a:xfrm>
          <a:prstGeom prst="rect">
            <a:avLst/>
          </a:prstGeom>
          <a:solidFill>
            <a:srgbClr val="00FF87"/>
          </a:solidFill>
          <a:ln cap="flat" cmpd="sng" w="12700">
            <a:solidFill>
              <a:srgbClr val="00FF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5"/>
          <p:cNvSpPr/>
          <p:nvPr/>
        </p:nvSpPr>
        <p:spPr>
          <a:xfrm>
            <a:off x="5989320" y="2578608"/>
            <a:ext cx="26517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FF87"/>
              </a:buClr>
              <a:buSzPts val="4000"/>
              <a:buFont typeface="Impact"/>
              <a:buNone/>
            </a:pPr>
            <a:r>
              <a:rPr b="1" i="0" lang="en-US" sz="4000" u="none" cap="none" strike="noStrike">
                <a:solidFill>
                  <a:srgbClr val="00FF87"/>
                </a:solidFill>
                <a:latin typeface="Impact"/>
                <a:ea typeface="Impact"/>
                <a:cs typeface="Impact"/>
                <a:sym typeface="Impact"/>
              </a:rPr>
              <a:t>30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5989320" y="3182112"/>
            <a:ext cx="2651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Frames per Sequence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5852160" y="3794760"/>
            <a:ext cx="2926080" cy="1097280"/>
          </a:xfrm>
          <a:prstGeom prst="rect">
            <a:avLst/>
          </a:prstGeom>
          <a:solidFill>
            <a:srgbClr val="111827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5"/>
          <p:cNvSpPr/>
          <p:nvPr/>
        </p:nvSpPr>
        <p:spPr>
          <a:xfrm>
            <a:off x="5852160" y="3794760"/>
            <a:ext cx="54864" cy="1097280"/>
          </a:xfrm>
          <a:prstGeom prst="rect">
            <a:avLst/>
          </a:prstGeom>
          <a:solidFill>
            <a:srgbClr val="00FF87"/>
          </a:solidFill>
          <a:ln cap="flat" cmpd="sng" w="12700">
            <a:solidFill>
              <a:srgbClr val="00FF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5"/>
          <p:cNvSpPr/>
          <p:nvPr/>
        </p:nvSpPr>
        <p:spPr>
          <a:xfrm>
            <a:off x="5989320" y="3977640"/>
            <a:ext cx="26517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FF87"/>
              </a:buClr>
              <a:buSzPts val="2200"/>
              <a:buFont typeface="Impact"/>
              <a:buNone/>
            </a:pPr>
            <a:r>
              <a:rPr b="1" i="0" lang="en-US" sz="2200" u="none" cap="none" strike="noStrike">
                <a:solidFill>
                  <a:srgbClr val="00FF87"/>
                </a:solidFill>
                <a:latin typeface="Impact"/>
                <a:ea typeface="Impact"/>
                <a:cs typeface="Impact"/>
                <a:sym typeface="Impact"/>
              </a:rPr>
              <a:t>Keypoints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5989320" y="4507992"/>
            <a:ext cx="2651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Input Type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F1E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6"/>
          <p:cNvSpPr/>
          <p:nvPr/>
        </p:nvSpPr>
        <p:spPr>
          <a:xfrm>
            <a:off x="0" y="0"/>
            <a:ext cx="63900" cy="5143500"/>
          </a:xfrm>
          <a:prstGeom prst="rect">
            <a:avLst/>
          </a:prstGeom>
          <a:solidFill>
            <a:srgbClr val="00FF87"/>
          </a:solidFill>
          <a:ln cap="flat" cmpd="sng" w="12700">
            <a:solidFill>
              <a:srgbClr val="00FF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6"/>
          <p:cNvSpPr/>
          <p:nvPr/>
        </p:nvSpPr>
        <p:spPr>
          <a:xfrm>
            <a:off x="8046720" y="4754880"/>
            <a:ext cx="914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3" name="Google Shape;133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5900" y="469163"/>
            <a:ext cx="8612202" cy="4205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F1E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7"/>
          <p:cNvSpPr/>
          <p:nvPr/>
        </p:nvSpPr>
        <p:spPr>
          <a:xfrm>
            <a:off x="0" y="0"/>
            <a:ext cx="63900" cy="5143500"/>
          </a:xfrm>
          <a:prstGeom prst="rect">
            <a:avLst/>
          </a:prstGeom>
          <a:solidFill>
            <a:srgbClr val="00FF87"/>
          </a:solidFill>
          <a:ln cap="flat" cmpd="sng" w="12700">
            <a:solidFill>
              <a:srgbClr val="00FF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7"/>
          <p:cNvSpPr/>
          <p:nvPr/>
        </p:nvSpPr>
        <p:spPr>
          <a:xfrm>
            <a:off x="8046720" y="4754880"/>
            <a:ext cx="914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1" name="Google Shape;141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4350" y="1014200"/>
            <a:ext cx="8775299" cy="19881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F1E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8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FF87"/>
          </a:solidFill>
          <a:ln cap="flat" cmpd="sng" w="12700">
            <a:solidFill>
              <a:srgbClr val="00FF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8"/>
          <p:cNvSpPr/>
          <p:nvPr/>
        </p:nvSpPr>
        <p:spPr>
          <a:xfrm>
            <a:off x="502920" y="5029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Trebuchet MS"/>
              <a:buNone/>
            </a:pPr>
            <a:r>
              <a:rPr b="1" i="0" lang="en-US" sz="25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What the System Sees: Face, Hands &amp; Posture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8"/>
          <p:cNvSpPr/>
          <p:nvPr/>
        </p:nvSpPr>
        <p:spPr>
          <a:xfrm>
            <a:off x="502920" y="1115568"/>
            <a:ext cx="8138160" cy="22860"/>
          </a:xfrm>
          <a:prstGeom prst="rect">
            <a:avLst/>
          </a:prstGeom>
          <a:solidFill>
            <a:srgbClr val="00FF87"/>
          </a:solidFill>
          <a:ln cap="flat" cmpd="sng" w="12700">
            <a:solidFill>
              <a:srgbClr val="00FF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8"/>
          <p:cNvSpPr/>
          <p:nvPr/>
        </p:nvSpPr>
        <p:spPr>
          <a:xfrm>
            <a:off x="502920" y="228600"/>
            <a:ext cx="969264" cy="256032"/>
          </a:xfrm>
          <a:prstGeom prst="rect">
            <a:avLst/>
          </a:prstGeom>
          <a:solidFill>
            <a:srgbClr val="00CC6A"/>
          </a:solidFill>
          <a:ln cap="flat" cmpd="sng" w="12700">
            <a:solidFill>
              <a:srgbClr val="00CC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8"/>
          <p:cNvSpPr/>
          <p:nvPr/>
        </p:nvSpPr>
        <p:spPr>
          <a:xfrm>
            <a:off x="502920" y="228600"/>
            <a:ext cx="969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0F1E"/>
              </a:buClr>
              <a:buSzPts val="800"/>
              <a:buFont typeface="Calibri"/>
              <a:buNone/>
            </a:pPr>
            <a:r>
              <a:rPr b="1" 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“You cant see me”</a:t>
            </a:r>
            <a:endParaRPr b="1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8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8"/>
          <p:cNvSpPr/>
          <p:nvPr/>
        </p:nvSpPr>
        <p:spPr>
          <a:xfrm>
            <a:off x="365760" y="1143000"/>
            <a:ext cx="1508760" cy="1691640"/>
          </a:xfrm>
          <a:prstGeom prst="rect">
            <a:avLst/>
          </a:prstGeom>
          <a:solidFill>
            <a:srgbClr val="1A2235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4" name="Google Shape;15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6112" y="132588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8"/>
          <p:cNvSpPr/>
          <p:nvPr/>
        </p:nvSpPr>
        <p:spPr>
          <a:xfrm>
            <a:off x="365760" y="1874520"/>
            <a:ext cx="1508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Camera Input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8"/>
          <p:cNvSpPr/>
          <p:nvPr/>
        </p:nvSpPr>
        <p:spPr>
          <a:xfrm>
            <a:off x="365760" y="2267712"/>
            <a:ext cx="1508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Live video feed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57" name="Google Shape;157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20240" y="1764792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8"/>
          <p:cNvSpPr/>
          <p:nvPr/>
        </p:nvSpPr>
        <p:spPr>
          <a:xfrm>
            <a:off x="2133600" y="1143000"/>
            <a:ext cx="1508700" cy="1691700"/>
          </a:xfrm>
          <a:prstGeom prst="rect">
            <a:avLst/>
          </a:prstGeom>
          <a:solidFill>
            <a:srgbClr val="1A2235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9" name="Google Shape;159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663952" y="132588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8"/>
          <p:cNvSpPr/>
          <p:nvPr/>
        </p:nvSpPr>
        <p:spPr>
          <a:xfrm>
            <a:off x="2133600" y="1874520"/>
            <a:ext cx="15087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MediaPipe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8"/>
          <p:cNvSpPr/>
          <p:nvPr/>
        </p:nvSpPr>
        <p:spPr>
          <a:xfrm>
            <a:off x="2133600" y="2267712"/>
            <a:ext cx="1508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Landmark extraction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2" name="Google Shape;162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11880" y="1764792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8"/>
          <p:cNvSpPr/>
          <p:nvPr/>
        </p:nvSpPr>
        <p:spPr>
          <a:xfrm>
            <a:off x="3825240" y="1143000"/>
            <a:ext cx="1508700" cy="1691700"/>
          </a:xfrm>
          <a:prstGeom prst="rect">
            <a:avLst/>
          </a:prstGeom>
          <a:solidFill>
            <a:srgbClr val="1A2235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4" name="Google Shape;164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55592" y="132588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8"/>
          <p:cNvSpPr/>
          <p:nvPr/>
        </p:nvSpPr>
        <p:spPr>
          <a:xfrm>
            <a:off x="3825240" y="1874520"/>
            <a:ext cx="15087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Face Mesh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8"/>
          <p:cNvSpPr/>
          <p:nvPr/>
        </p:nvSpPr>
        <p:spPr>
          <a:xfrm>
            <a:off x="3825240" y="2267712"/>
            <a:ext cx="1508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468 landmarks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7" name="Google Shape;167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03520" y="1764792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8"/>
          <p:cNvSpPr/>
          <p:nvPr/>
        </p:nvSpPr>
        <p:spPr>
          <a:xfrm>
            <a:off x="5516880" y="1143000"/>
            <a:ext cx="1508700" cy="1691700"/>
          </a:xfrm>
          <a:prstGeom prst="rect">
            <a:avLst/>
          </a:prstGeom>
          <a:solidFill>
            <a:srgbClr val="1A2235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9" name="Google Shape;169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047232" y="132588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8"/>
          <p:cNvSpPr/>
          <p:nvPr/>
        </p:nvSpPr>
        <p:spPr>
          <a:xfrm>
            <a:off x="5516880" y="1874520"/>
            <a:ext cx="15087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Hand Landmarks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8"/>
          <p:cNvSpPr/>
          <p:nvPr/>
        </p:nvSpPr>
        <p:spPr>
          <a:xfrm>
            <a:off x="5516880" y="2267712"/>
            <a:ext cx="1508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42 points (L+R)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2" name="Google Shape;172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95160" y="1764792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8"/>
          <p:cNvSpPr/>
          <p:nvPr/>
        </p:nvSpPr>
        <p:spPr>
          <a:xfrm>
            <a:off x="7208520" y="1143000"/>
            <a:ext cx="1508700" cy="1691700"/>
          </a:xfrm>
          <a:prstGeom prst="rect">
            <a:avLst/>
          </a:prstGeom>
          <a:solidFill>
            <a:srgbClr val="1A2235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4" name="Google Shape;174;p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738872" y="132588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8"/>
          <p:cNvSpPr/>
          <p:nvPr/>
        </p:nvSpPr>
        <p:spPr>
          <a:xfrm>
            <a:off x="7208520" y="1874520"/>
            <a:ext cx="15087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Pose Keypoints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8"/>
          <p:cNvSpPr/>
          <p:nvPr/>
        </p:nvSpPr>
        <p:spPr>
          <a:xfrm>
            <a:off x="7208520" y="2267712"/>
            <a:ext cx="1508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Upper body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8"/>
          <p:cNvSpPr/>
          <p:nvPr/>
        </p:nvSpPr>
        <p:spPr>
          <a:xfrm>
            <a:off x="502920" y="306324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FF87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0FF87"/>
                </a:solidFill>
                <a:latin typeface="Calibri"/>
                <a:ea typeface="Calibri"/>
                <a:cs typeface="Calibri"/>
                <a:sym typeface="Calibri"/>
              </a:rPr>
              <a:t>WHY THIS MATTERS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8" name="Google Shape;178;p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02920" y="3401568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8"/>
          <p:cNvSpPr/>
          <p:nvPr/>
        </p:nvSpPr>
        <p:spPr>
          <a:xfrm>
            <a:off x="822954" y="3365000"/>
            <a:ext cx="49020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Focused input — only movement regions that matter for silent gestures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80" name="Google Shape;180;p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02920" y="3803904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8"/>
          <p:cNvSpPr/>
          <p:nvPr/>
        </p:nvSpPr>
        <p:spPr>
          <a:xfrm>
            <a:off x="822954" y="3767325"/>
            <a:ext cx="4992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Lightweight pipeline — structured keypoints instead of raw pixel data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82" name="Google Shape;182;p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02920" y="420624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8"/>
          <p:cNvSpPr/>
          <p:nvPr/>
        </p:nvSpPr>
        <p:spPr>
          <a:xfrm>
            <a:off x="822954" y="4169675"/>
            <a:ext cx="4793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Model receives face + hand + body positions as a sequence over time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4" name="Google Shape;184;p8" title="Screencast from 05-19-2026 01:18:19 AM.webm">
            <a:hlinkClick r:id="rId10"/>
          </p:cNvPr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707463" y="2953425"/>
            <a:ext cx="3297874" cy="1932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F1E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9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A78BFA"/>
          </a:solidFill>
          <a:ln cap="flat" cmpd="sng" w="127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9"/>
          <p:cNvSpPr/>
          <p:nvPr/>
        </p:nvSpPr>
        <p:spPr>
          <a:xfrm>
            <a:off x="502920" y="5029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Trebuchet MS"/>
              <a:buNone/>
            </a:pPr>
            <a:r>
              <a:rPr b="1" i="0" lang="en-US" sz="25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Model: Motion BiLSTM Architecture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9"/>
          <p:cNvSpPr/>
          <p:nvPr/>
        </p:nvSpPr>
        <p:spPr>
          <a:xfrm>
            <a:off x="502920" y="987552"/>
            <a:ext cx="8138160" cy="22860"/>
          </a:xfrm>
          <a:prstGeom prst="rect">
            <a:avLst/>
          </a:prstGeom>
          <a:solidFill>
            <a:srgbClr val="00FF87"/>
          </a:solidFill>
          <a:ln cap="flat" cmpd="sng" w="12700">
            <a:solidFill>
              <a:srgbClr val="00FF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9"/>
          <p:cNvSpPr/>
          <p:nvPr/>
        </p:nvSpPr>
        <p:spPr>
          <a:xfrm>
            <a:off x="502920" y="228600"/>
            <a:ext cx="969264" cy="256032"/>
          </a:xfrm>
          <a:prstGeom prst="rect">
            <a:avLst/>
          </a:prstGeom>
          <a:solidFill>
            <a:srgbClr val="00CC6A"/>
          </a:solidFill>
          <a:ln cap="flat" cmpd="sng" w="12700">
            <a:solidFill>
              <a:srgbClr val="00CC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9"/>
          <p:cNvSpPr/>
          <p:nvPr/>
        </p:nvSpPr>
        <p:spPr>
          <a:xfrm>
            <a:off x="502920" y="228600"/>
            <a:ext cx="96926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0F1E"/>
              </a:buClr>
              <a:buSzPts val="800"/>
              <a:buFont typeface="Calibri"/>
              <a:buNone/>
            </a:pPr>
            <a:r>
              <a:rPr b="1" lang="en-US" sz="800">
                <a:solidFill>
                  <a:srgbClr val="0A0F1E"/>
                </a:solidFill>
                <a:latin typeface="Calibri"/>
                <a:ea typeface="Calibri"/>
                <a:cs typeface="Calibri"/>
                <a:sym typeface="Calibri"/>
              </a:rPr>
              <a:t>“I am not perfect”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9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05 / 11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9"/>
          <p:cNvSpPr/>
          <p:nvPr/>
        </p:nvSpPr>
        <p:spPr>
          <a:xfrm>
            <a:off x="201168" y="1143000"/>
            <a:ext cx="1371600" cy="1554480"/>
          </a:xfrm>
          <a:prstGeom prst="rect">
            <a:avLst/>
          </a:prstGeom>
          <a:solidFill>
            <a:srgbClr val="111827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7" name="Google Shape;19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1228" y="128016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9"/>
          <p:cNvSpPr/>
          <p:nvPr/>
        </p:nvSpPr>
        <p:spPr>
          <a:xfrm>
            <a:off x="201168" y="1783080"/>
            <a:ext cx="1371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Video Input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30 frames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99" name="Google Shape;199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91056" y="1810512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9"/>
          <p:cNvSpPr/>
          <p:nvPr/>
        </p:nvSpPr>
        <p:spPr>
          <a:xfrm>
            <a:off x="1810512" y="1143000"/>
            <a:ext cx="1463040" cy="1554480"/>
          </a:xfrm>
          <a:prstGeom prst="rect">
            <a:avLst/>
          </a:prstGeom>
          <a:solidFill>
            <a:srgbClr val="1A2235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1" name="Google Shape;201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336292" y="128016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9"/>
          <p:cNvSpPr/>
          <p:nvPr/>
        </p:nvSpPr>
        <p:spPr>
          <a:xfrm>
            <a:off x="1810512" y="1783080"/>
            <a:ext cx="14630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MediaPipe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Keypoints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03" name="Google Shape;203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91840" y="1810512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9"/>
          <p:cNvSpPr/>
          <p:nvPr/>
        </p:nvSpPr>
        <p:spPr>
          <a:xfrm>
            <a:off x="3511296" y="1143000"/>
            <a:ext cx="1645920" cy="1554480"/>
          </a:xfrm>
          <a:prstGeom prst="rect">
            <a:avLst/>
          </a:prstGeom>
          <a:solidFill>
            <a:srgbClr val="1A2235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5" name="Google Shape;205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128516" y="128016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9"/>
          <p:cNvSpPr/>
          <p:nvPr/>
        </p:nvSpPr>
        <p:spPr>
          <a:xfrm>
            <a:off x="3511296" y="1783080"/>
            <a:ext cx="16459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Selected Features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+ Motion Δ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07" name="Google Shape;207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75504" y="1810512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9"/>
          <p:cNvSpPr/>
          <p:nvPr/>
        </p:nvSpPr>
        <p:spPr>
          <a:xfrm>
            <a:off x="5394960" y="1143000"/>
            <a:ext cx="1463040" cy="1554480"/>
          </a:xfrm>
          <a:prstGeom prst="rect">
            <a:avLst/>
          </a:prstGeom>
          <a:solidFill>
            <a:srgbClr val="2D1F4E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9" name="Google Shape;209;p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920740" y="128016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9"/>
          <p:cNvSpPr/>
          <p:nvPr/>
        </p:nvSpPr>
        <p:spPr>
          <a:xfrm>
            <a:off x="5394960" y="1783080"/>
            <a:ext cx="14630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Motion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BiLSTM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11" name="Google Shape;211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76288" y="1810512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9"/>
          <p:cNvSpPr/>
          <p:nvPr/>
        </p:nvSpPr>
        <p:spPr>
          <a:xfrm>
            <a:off x="7095744" y="1143000"/>
            <a:ext cx="1371600" cy="1554480"/>
          </a:xfrm>
          <a:prstGeom prst="rect">
            <a:avLst/>
          </a:prstGeom>
          <a:solidFill>
            <a:srgbClr val="0F2E1A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3" name="Google Shape;213;p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575804" y="128016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9"/>
          <p:cNvSpPr/>
          <p:nvPr/>
        </p:nvSpPr>
        <p:spPr>
          <a:xfrm>
            <a:off x="7095744" y="1783080"/>
            <a:ext cx="1371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Gesture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Class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9"/>
          <p:cNvSpPr/>
          <p:nvPr/>
        </p:nvSpPr>
        <p:spPr>
          <a:xfrm>
            <a:off x="502920" y="292608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A78BFA"/>
                </a:solidFill>
                <a:latin typeface="Calibri"/>
                <a:ea typeface="Calibri"/>
                <a:cs typeface="Calibri"/>
                <a:sym typeface="Calibri"/>
              </a:rPr>
              <a:t>WHAT THE MODEL LEARNS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9"/>
          <p:cNvSpPr/>
          <p:nvPr/>
        </p:nvSpPr>
        <p:spPr>
          <a:xfrm>
            <a:off x="502920" y="3291840"/>
            <a:ext cx="4023360" cy="530352"/>
          </a:xfrm>
          <a:prstGeom prst="rect">
            <a:avLst/>
          </a:prstGeom>
          <a:solidFill>
            <a:srgbClr val="1A2235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9"/>
          <p:cNvSpPr/>
          <p:nvPr/>
        </p:nvSpPr>
        <p:spPr>
          <a:xfrm>
            <a:off x="640080" y="3328416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Selected Pose Landmarks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9"/>
          <p:cNvSpPr/>
          <p:nvPr/>
        </p:nvSpPr>
        <p:spPr>
          <a:xfrm>
            <a:off x="2971800" y="3328416"/>
            <a:ext cx="1417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Upper-body anchor points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9"/>
          <p:cNvSpPr/>
          <p:nvPr/>
        </p:nvSpPr>
        <p:spPr>
          <a:xfrm>
            <a:off x="4800600" y="3291840"/>
            <a:ext cx="4023360" cy="530352"/>
          </a:xfrm>
          <a:prstGeom prst="rect">
            <a:avLst/>
          </a:prstGeom>
          <a:solidFill>
            <a:srgbClr val="1A2235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9"/>
          <p:cNvSpPr/>
          <p:nvPr/>
        </p:nvSpPr>
        <p:spPr>
          <a:xfrm>
            <a:off x="4937760" y="3328416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Selected Face Landmarks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9"/>
          <p:cNvSpPr/>
          <p:nvPr/>
        </p:nvSpPr>
        <p:spPr>
          <a:xfrm>
            <a:off x="7269480" y="3328416"/>
            <a:ext cx="1417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Expression &amp; orientation cues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9"/>
          <p:cNvSpPr/>
          <p:nvPr/>
        </p:nvSpPr>
        <p:spPr>
          <a:xfrm>
            <a:off x="502920" y="3950208"/>
            <a:ext cx="4023360" cy="530352"/>
          </a:xfrm>
          <a:prstGeom prst="rect">
            <a:avLst/>
          </a:prstGeom>
          <a:solidFill>
            <a:srgbClr val="1A2235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9"/>
          <p:cNvSpPr/>
          <p:nvPr/>
        </p:nvSpPr>
        <p:spPr>
          <a:xfrm>
            <a:off x="640080" y="3986784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Hand Landmarks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9"/>
          <p:cNvSpPr/>
          <p:nvPr/>
        </p:nvSpPr>
        <p:spPr>
          <a:xfrm>
            <a:off x="2971800" y="3986784"/>
            <a:ext cx="1417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Full 21-point hand pose (L+R)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9"/>
          <p:cNvSpPr/>
          <p:nvPr/>
        </p:nvSpPr>
        <p:spPr>
          <a:xfrm>
            <a:off x="4800600" y="3950208"/>
            <a:ext cx="4023360" cy="530352"/>
          </a:xfrm>
          <a:prstGeom prst="rect">
            <a:avLst/>
          </a:prstGeom>
          <a:solidFill>
            <a:srgbClr val="1A2235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9"/>
          <p:cNvSpPr/>
          <p:nvPr/>
        </p:nvSpPr>
        <p:spPr>
          <a:xfrm>
            <a:off x="4937760" y="3986784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Motion Deltas (Δ)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9"/>
          <p:cNvSpPr/>
          <p:nvPr/>
        </p:nvSpPr>
        <p:spPr>
          <a:xfrm>
            <a:off x="7269480" y="3986784"/>
            <a:ext cx="1417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Frame-to-frame movement patterns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F1E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0"/>
          <p:cNvSpPr/>
          <p:nvPr/>
        </p:nvSpPr>
        <p:spPr>
          <a:xfrm>
            <a:off x="0" y="0"/>
            <a:ext cx="63900" cy="5143500"/>
          </a:xfrm>
          <a:prstGeom prst="rect">
            <a:avLst/>
          </a:prstGeom>
          <a:solidFill>
            <a:srgbClr val="00FF87"/>
          </a:solidFill>
          <a:ln cap="flat" cmpd="sng" w="12700">
            <a:solidFill>
              <a:srgbClr val="00FF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0"/>
          <p:cNvSpPr/>
          <p:nvPr/>
        </p:nvSpPr>
        <p:spPr>
          <a:xfrm>
            <a:off x="8046720" y="4754880"/>
            <a:ext cx="914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5" name="Google Shape;235;p10" title="Screencast from 05-19-2026 01:20:02 AM.webm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800" y="43550"/>
            <a:ext cx="4616876" cy="2705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10" title="Screencast from 05-19-2026 01:20:33 AM.webm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85575" y="2748750"/>
            <a:ext cx="3823601" cy="224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F1E"/>
        </a:solid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38BDF8"/>
          </a:solidFill>
          <a:ln cap="flat" cmpd="sng" w="127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1"/>
          <p:cNvSpPr/>
          <p:nvPr/>
        </p:nvSpPr>
        <p:spPr>
          <a:xfrm>
            <a:off x="502920" y="5029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Trebuchet MS"/>
              <a:buNone/>
            </a:pPr>
            <a:r>
              <a:rPr b="1" i="0" lang="en-US" sz="25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Results: Model Performance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1"/>
          <p:cNvSpPr/>
          <p:nvPr/>
        </p:nvSpPr>
        <p:spPr>
          <a:xfrm>
            <a:off x="502920" y="987552"/>
            <a:ext cx="8138160" cy="22860"/>
          </a:xfrm>
          <a:prstGeom prst="rect">
            <a:avLst/>
          </a:prstGeom>
          <a:solidFill>
            <a:srgbClr val="00FF87"/>
          </a:solidFill>
          <a:ln cap="flat" cmpd="sng" w="12700">
            <a:solidFill>
              <a:srgbClr val="00FF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1"/>
          <p:cNvSpPr/>
          <p:nvPr/>
        </p:nvSpPr>
        <p:spPr>
          <a:xfrm>
            <a:off x="502920" y="228600"/>
            <a:ext cx="969264" cy="256032"/>
          </a:xfrm>
          <a:prstGeom prst="rect">
            <a:avLst/>
          </a:prstGeom>
          <a:solidFill>
            <a:srgbClr val="00CC6A"/>
          </a:solidFill>
          <a:ln cap="flat" cmpd="sng" w="12700">
            <a:solidFill>
              <a:srgbClr val="00CC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1"/>
          <p:cNvSpPr/>
          <p:nvPr/>
        </p:nvSpPr>
        <p:spPr>
          <a:xfrm>
            <a:off x="502920" y="228600"/>
            <a:ext cx="96926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F1E"/>
              </a:buClr>
              <a:buSzPts val="800"/>
              <a:buFont typeface="Calibri"/>
              <a:buNone/>
            </a:pPr>
            <a:r>
              <a:rPr b="1" lang="en-US" sz="800">
                <a:solidFill>
                  <a:srgbClr val="0A0F1E"/>
                </a:solidFill>
                <a:latin typeface="Calibri"/>
                <a:ea typeface="Calibri"/>
                <a:cs typeface="Calibri"/>
                <a:sym typeface="Calibri"/>
              </a:rPr>
              <a:t>“My model - generalizing not bluffing”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1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06 / 11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1"/>
          <p:cNvSpPr/>
          <p:nvPr/>
        </p:nvSpPr>
        <p:spPr>
          <a:xfrm>
            <a:off x="365760" y="1097280"/>
            <a:ext cx="2697480" cy="1371600"/>
          </a:xfrm>
          <a:prstGeom prst="rect">
            <a:avLst/>
          </a:prstGeom>
          <a:solidFill>
            <a:srgbClr val="1A2235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1"/>
          <p:cNvSpPr/>
          <p:nvPr/>
        </p:nvSpPr>
        <p:spPr>
          <a:xfrm>
            <a:off x="365760" y="1097280"/>
            <a:ext cx="2697480" cy="54864"/>
          </a:xfrm>
          <a:prstGeom prst="rect">
            <a:avLst/>
          </a:prstGeom>
          <a:solidFill>
            <a:srgbClr val="00FF87"/>
          </a:solidFill>
          <a:ln cap="flat" cmpd="sng" w="12700">
            <a:solidFill>
              <a:srgbClr val="00FF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1"/>
          <p:cNvSpPr/>
          <p:nvPr/>
        </p:nvSpPr>
        <p:spPr>
          <a:xfrm>
            <a:off x="365760" y="1188720"/>
            <a:ext cx="26974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FF87"/>
              </a:buClr>
              <a:buSzPts val="4200"/>
              <a:buFont typeface="Impact"/>
              <a:buNone/>
            </a:pPr>
            <a:r>
              <a:rPr b="1" i="0" lang="en-US" sz="4200" u="none" cap="none" strike="noStrike">
                <a:solidFill>
                  <a:srgbClr val="00FF87"/>
                </a:solidFill>
                <a:latin typeface="Impact"/>
                <a:ea typeface="Impact"/>
                <a:cs typeface="Impact"/>
                <a:sym typeface="Impact"/>
              </a:rPr>
              <a:t>76.85%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1"/>
          <p:cNvSpPr/>
          <p:nvPr/>
        </p:nvSpPr>
        <p:spPr>
          <a:xfrm>
            <a:off x="365760" y="1993392"/>
            <a:ext cx="2697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Best Validation Accuracy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1"/>
          <p:cNvSpPr/>
          <p:nvPr/>
        </p:nvSpPr>
        <p:spPr>
          <a:xfrm>
            <a:off x="3291840" y="1097280"/>
            <a:ext cx="2697480" cy="1371600"/>
          </a:xfrm>
          <a:prstGeom prst="rect">
            <a:avLst/>
          </a:prstGeom>
          <a:solidFill>
            <a:srgbClr val="1A2235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1"/>
          <p:cNvSpPr/>
          <p:nvPr/>
        </p:nvSpPr>
        <p:spPr>
          <a:xfrm>
            <a:off x="3291840" y="1097280"/>
            <a:ext cx="2697480" cy="54864"/>
          </a:xfrm>
          <a:prstGeom prst="rect">
            <a:avLst/>
          </a:prstGeom>
          <a:solidFill>
            <a:srgbClr val="38BDF8"/>
          </a:solidFill>
          <a:ln cap="flat" cmpd="sng" w="127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1"/>
          <p:cNvSpPr/>
          <p:nvPr/>
        </p:nvSpPr>
        <p:spPr>
          <a:xfrm>
            <a:off x="3291840" y="1188720"/>
            <a:ext cx="26974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4200"/>
              <a:buFont typeface="Impact"/>
              <a:buNone/>
            </a:pPr>
            <a:r>
              <a:rPr b="1" i="0" lang="en-US" sz="4200" u="none" cap="none" strike="noStrike">
                <a:solidFill>
                  <a:srgbClr val="38BDF8"/>
                </a:solidFill>
                <a:latin typeface="Impact"/>
                <a:ea typeface="Impact"/>
                <a:cs typeface="Impact"/>
                <a:sym typeface="Impact"/>
              </a:rPr>
              <a:t>67.59%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1"/>
          <p:cNvSpPr/>
          <p:nvPr/>
        </p:nvSpPr>
        <p:spPr>
          <a:xfrm>
            <a:off x="3291840" y="1993392"/>
            <a:ext cx="2697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Test Accuracy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1"/>
          <p:cNvSpPr/>
          <p:nvPr/>
        </p:nvSpPr>
        <p:spPr>
          <a:xfrm>
            <a:off x="6217920" y="1097280"/>
            <a:ext cx="2697480" cy="1371600"/>
          </a:xfrm>
          <a:prstGeom prst="rect">
            <a:avLst/>
          </a:prstGeom>
          <a:solidFill>
            <a:srgbClr val="1A2235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1"/>
          <p:cNvSpPr/>
          <p:nvPr/>
        </p:nvSpPr>
        <p:spPr>
          <a:xfrm>
            <a:off x="6217920" y="1097280"/>
            <a:ext cx="2697480" cy="54864"/>
          </a:xfrm>
          <a:prstGeom prst="rect">
            <a:avLst/>
          </a:prstGeom>
          <a:solidFill>
            <a:srgbClr val="FBBF24"/>
          </a:solidFill>
          <a:ln cap="flat" cmpd="sng" w="12700">
            <a:solidFill>
              <a:srgbClr val="FBB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1"/>
          <p:cNvSpPr/>
          <p:nvPr/>
        </p:nvSpPr>
        <p:spPr>
          <a:xfrm>
            <a:off x="6217920" y="1188720"/>
            <a:ext cx="26974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4200"/>
              <a:buFont typeface="Impact"/>
              <a:buNone/>
            </a:pPr>
            <a:r>
              <a:rPr b="1" i="0" lang="en-US" sz="4200" u="none" cap="none" strike="noStrike">
                <a:solidFill>
                  <a:srgbClr val="FBBF24"/>
                </a:solidFill>
                <a:latin typeface="Impact"/>
                <a:ea typeface="Impact"/>
                <a:cs typeface="Impact"/>
                <a:sym typeface="Impact"/>
              </a:rPr>
              <a:t>9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1"/>
          <p:cNvSpPr/>
          <p:nvPr/>
        </p:nvSpPr>
        <p:spPr>
          <a:xfrm>
            <a:off x="6217920" y="1993392"/>
            <a:ext cx="2697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Action Classes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1"/>
          <p:cNvSpPr/>
          <p:nvPr/>
        </p:nvSpPr>
        <p:spPr>
          <a:xfrm>
            <a:off x="502920" y="2633472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F1 SCORE BY CLASS (illustrative ranking)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1"/>
          <p:cNvSpPr/>
          <p:nvPr/>
        </p:nvSpPr>
        <p:spPr>
          <a:xfrm>
            <a:off x="502920" y="2962656"/>
            <a:ext cx="12801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danger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1"/>
          <p:cNvSpPr/>
          <p:nvPr/>
        </p:nvSpPr>
        <p:spPr>
          <a:xfrm>
            <a:off x="1874520" y="2980944"/>
            <a:ext cx="7132320" cy="137160"/>
          </a:xfrm>
          <a:prstGeom prst="rect">
            <a:avLst/>
          </a:prstGeom>
          <a:solidFill>
            <a:srgbClr val="1A2235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1"/>
          <p:cNvSpPr/>
          <p:nvPr/>
        </p:nvSpPr>
        <p:spPr>
          <a:xfrm>
            <a:off x="1874520" y="2980944"/>
            <a:ext cx="6490411" cy="137160"/>
          </a:xfrm>
          <a:prstGeom prst="rect">
            <a:avLst/>
          </a:prstGeom>
          <a:solidFill>
            <a:srgbClr val="00FF87"/>
          </a:solidFill>
          <a:ln cap="flat" cmpd="sng" w="12700">
            <a:solidFill>
              <a:srgbClr val="00FF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1"/>
          <p:cNvSpPr/>
          <p:nvPr/>
        </p:nvSpPr>
        <p:spPr>
          <a:xfrm>
            <a:off x="8410651" y="2971800"/>
            <a:ext cx="457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91%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1"/>
          <p:cNvSpPr/>
          <p:nvPr/>
        </p:nvSpPr>
        <p:spPr>
          <a:xfrm>
            <a:off x="502920" y="3186684"/>
            <a:ext cx="12801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help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1"/>
          <p:cNvSpPr/>
          <p:nvPr/>
        </p:nvSpPr>
        <p:spPr>
          <a:xfrm>
            <a:off x="1874520" y="3204972"/>
            <a:ext cx="7132320" cy="137160"/>
          </a:xfrm>
          <a:prstGeom prst="rect">
            <a:avLst/>
          </a:prstGeom>
          <a:solidFill>
            <a:srgbClr val="1A2235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1"/>
          <p:cNvSpPr/>
          <p:nvPr/>
        </p:nvSpPr>
        <p:spPr>
          <a:xfrm>
            <a:off x="1874520" y="3204972"/>
            <a:ext cx="6276442" cy="137160"/>
          </a:xfrm>
          <a:prstGeom prst="rect">
            <a:avLst/>
          </a:prstGeom>
          <a:solidFill>
            <a:srgbClr val="00FF87"/>
          </a:solidFill>
          <a:ln cap="flat" cmpd="sng" w="12700">
            <a:solidFill>
              <a:srgbClr val="00FF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1"/>
          <p:cNvSpPr/>
          <p:nvPr/>
        </p:nvSpPr>
        <p:spPr>
          <a:xfrm>
            <a:off x="8196682" y="3195828"/>
            <a:ext cx="457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88%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1"/>
          <p:cNvSpPr/>
          <p:nvPr/>
        </p:nvSpPr>
        <p:spPr>
          <a:xfrm>
            <a:off x="502920" y="3410712"/>
            <a:ext cx="12801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abort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1"/>
          <p:cNvSpPr/>
          <p:nvPr/>
        </p:nvSpPr>
        <p:spPr>
          <a:xfrm>
            <a:off x="1874520" y="3429000"/>
            <a:ext cx="7132320" cy="137160"/>
          </a:xfrm>
          <a:prstGeom prst="rect">
            <a:avLst/>
          </a:prstGeom>
          <a:solidFill>
            <a:srgbClr val="1A2235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1"/>
          <p:cNvSpPr/>
          <p:nvPr/>
        </p:nvSpPr>
        <p:spPr>
          <a:xfrm>
            <a:off x="1874520" y="3429000"/>
            <a:ext cx="5991149" cy="137160"/>
          </a:xfrm>
          <a:prstGeom prst="rect">
            <a:avLst/>
          </a:prstGeom>
          <a:solidFill>
            <a:srgbClr val="00FF87"/>
          </a:solidFill>
          <a:ln cap="flat" cmpd="sng" w="12700">
            <a:solidFill>
              <a:srgbClr val="00FF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1"/>
          <p:cNvSpPr/>
          <p:nvPr/>
        </p:nvSpPr>
        <p:spPr>
          <a:xfrm>
            <a:off x="7911389" y="3419856"/>
            <a:ext cx="457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84%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1"/>
          <p:cNvSpPr/>
          <p:nvPr/>
        </p:nvSpPr>
        <p:spPr>
          <a:xfrm>
            <a:off x="502920" y="3634740"/>
            <a:ext cx="12801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need_backup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1"/>
          <p:cNvSpPr/>
          <p:nvPr/>
        </p:nvSpPr>
        <p:spPr>
          <a:xfrm>
            <a:off x="1874520" y="3653028"/>
            <a:ext cx="7132320" cy="137160"/>
          </a:xfrm>
          <a:prstGeom prst="rect">
            <a:avLst/>
          </a:prstGeom>
          <a:solidFill>
            <a:srgbClr val="1A2235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1"/>
          <p:cNvSpPr/>
          <p:nvPr/>
        </p:nvSpPr>
        <p:spPr>
          <a:xfrm>
            <a:off x="1874520" y="3653028"/>
            <a:ext cx="5705856" cy="137160"/>
          </a:xfrm>
          <a:prstGeom prst="rect">
            <a:avLst/>
          </a:prstGeom>
          <a:solidFill>
            <a:srgbClr val="00FF87"/>
          </a:solidFill>
          <a:ln cap="flat" cmpd="sng" w="12700">
            <a:solidFill>
              <a:srgbClr val="00FF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1"/>
          <p:cNvSpPr/>
          <p:nvPr/>
        </p:nvSpPr>
        <p:spPr>
          <a:xfrm>
            <a:off x="7626096" y="3643884"/>
            <a:ext cx="457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80%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1"/>
          <p:cNvSpPr/>
          <p:nvPr/>
        </p:nvSpPr>
        <p:spPr>
          <a:xfrm>
            <a:off x="502920" y="3858768"/>
            <a:ext cx="12801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watched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1"/>
          <p:cNvSpPr/>
          <p:nvPr/>
        </p:nvSpPr>
        <p:spPr>
          <a:xfrm>
            <a:off x="1874520" y="3877056"/>
            <a:ext cx="7132320" cy="137160"/>
          </a:xfrm>
          <a:prstGeom prst="rect">
            <a:avLst/>
          </a:prstGeom>
          <a:solidFill>
            <a:srgbClr val="1A2235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1"/>
          <p:cNvSpPr/>
          <p:nvPr/>
        </p:nvSpPr>
        <p:spPr>
          <a:xfrm>
            <a:off x="1874520" y="3877056"/>
            <a:ext cx="5277917" cy="137160"/>
          </a:xfrm>
          <a:prstGeom prst="rect">
            <a:avLst/>
          </a:prstGeom>
          <a:solidFill>
            <a:srgbClr val="FBBF24"/>
          </a:solidFill>
          <a:ln cap="flat" cmpd="sng" w="12700">
            <a:solidFill>
              <a:srgbClr val="FBB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1"/>
          <p:cNvSpPr/>
          <p:nvPr/>
        </p:nvSpPr>
        <p:spPr>
          <a:xfrm>
            <a:off x="7198157" y="3867912"/>
            <a:ext cx="457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74%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1"/>
          <p:cNvSpPr/>
          <p:nvPr/>
        </p:nvSpPr>
        <p:spPr>
          <a:xfrm>
            <a:off x="502920" y="4082796"/>
            <a:ext cx="12801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proceed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1"/>
          <p:cNvSpPr/>
          <p:nvPr/>
        </p:nvSpPr>
        <p:spPr>
          <a:xfrm>
            <a:off x="1874520" y="4101084"/>
            <a:ext cx="7132320" cy="137160"/>
          </a:xfrm>
          <a:prstGeom prst="rect">
            <a:avLst/>
          </a:prstGeom>
          <a:solidFill>
            <a:srgbClr val="1A2235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1"/>
          <p:cNvSpPr/>
          <p:nvPr/>
        </p:nvSpPr>
        <p:spPr>
          <a:xfrm>
            <a:off x="1874520" y="4101084"/>
            <a:ext cx="4849978" cy="137160"/>
          </a:xfrm>
          <a:prstGeom prst="rect">
            <a:avLst/>
          </a:prstGeom>
          <a:solidFill>
            <a:srgbClr val="FBBF24"/>
          </a:solidFill>
          <a:ln cap="flat" cmpd="sng" w="12700">
            <a:solidFill>
              <a:srgbClr val="FBB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1"/>
          <p:cNvSpPr/>
          <p:nvPr/>
        </p:nvSpPr>
        <p:spPr>
          <a:xfrm>
            <a:off x="6770218" y="4091940"/>
            <a:ext cx="457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68%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1"/>
          <p:cNvSpPr/>
          <p:nvPr/>
        </p:nvSpPr>
        <p:spPr>
          <a:xfrm>
            <a:off x="502920" y="4306824"/>
            <a:ext cx="12801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safe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1"/>
          <p:cNvSpPr/>
          <p:nvPr/>
        </p:nvSpPr>
        <p:spPr>
          <a:xfrm>
            <a:off x="1874520" y="4325112"/>
            <a:ext cx="7132320" cy="137160"/>
          </a:xfrm>
          <a:prstGeom prst="rect">
            <a:avLst/>
          </a:prstGeom>
          <a:solidFill>
            <a:srgbClr val="1A2235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1"/>
          <p:cNvSpPr/>
          <p:nvPr/>
        </p:nvSpPr>
        <p:spPr>
          <a:xfrm>
            <a:off x="1874520" y="4325112"/>
            <a:ext cx="4279392" cy="137160"/>
          </a:xfrm>
          <a:prstGeom prst="rect">
            <a:avLst/>
          </a:prstGeom>
          <a:solidFill>
            <a:srgbClr val="FF3B5C"/>
          </a:solidFill>
          <a:ln cap="flat" cmpd="sng" w="12700">
            <a:solidFill>
              <a:srgbClr val="FF3B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1"/>
          <p:cNvSpPr/>
          <p:nvPr/>
        </p:nvSpPr>
        <p:spPr>
          <a:xfrm>
            <a:off x="6199632" y="4315968"/>
            <a:ext cx="457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60%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1"/>
          <p:cNvSpPr/>
          <p:nvPr/>
        </p:nvSpPr>
        <p:spPr>
          <a:xfrm>
            <a:off x="502920" y="4530852"/>
            <a:ext cx="12801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stay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1"/>
          <p:cNvSpPr/>
          <p:nvPr/>
        </p:nvSpPr>
        <p:spPr>
          <a:xfrm>
            <a:off x="1874520" y="4549140"/>
            <a:ext cx="7132320" cy="137160"/>
          </a:xfrm>
          <a:prstGeom prst="rect">
            <a:avLst/>
          </a:prstGeom>
          <a:solidFill>
            <a:srgbClr val="1A2235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1"/>
          <p:cNvSpPr/>
          <p:nvPr/>
        </p:nvSpPr>
        <p:spPr>
          <a:xfrm>
            <a:off x="1874520" y="4549140"/>
            <a:ext cx="3922776" cy="137160"/>
          </a:xfrm>
          <a:prstGeom prst="rect">
            <a:avLst/>
          </a:prstGeom>
          <a:solidFill>
            <a:srgbClr val="FF3B5C"/>
          </a:solidFill>
          <a:ln cap="flat" cmpd="sng" w="12700">
            <a:solidFill>
              <a:srgbClr val="FF3B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1"/>
          <p:cNvSpPr/>
          <p:nvPr/>
        </p:nvSpPr>
        <p:spPr>
          <a:xfrm>
            <a:off x="5843016" y="4539996"/>
            <a:ext cx="457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55%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1"/>
          <p:cNvSpPr/>
          <p:nvPr/>
        </p:nvSpPr>
        <p:spPr>
          <a:xfrm>
            <a:off x="502920" y="4754880"/>
            <a:ext cx="12801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no_gesture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1"/>
          <p:cNvSpPr/>
          <p:nvPr/>
        </p:nvSpPr>
        <p:spPr>
          <a:xfrm>
            <a:off x="1874520" y="4773168"/>
            <a:ext cx="7132320" cy="137160"/>
          </a:xfrm>
          <a:prstGeom prst="rect">
            <a:avLst/>
          </a:prstGeom>
          <a:solidFill>
            <a:srgbClr val="1A2235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1"/>
          <p:cNvSpPr/>
          <p:nvPr/>
        </p:nvSpPr>
        <p:spPr>
          <a:xfrm>
            <a:off x="1874520" y="4773168"/>
            <a:ext cx="3423514" cy="137160"/>
          </a:xfrm>
          <a:prstGeom prst="rect">
            <a:avLst/>
          </a:prstGeom>
          <a:solidFill>
            <a:srgbClr val="FF3B5C"/>
          </a:solidFill>
          <a:ln cap="flat" cmpd="sng" w="12700">
            <a:solidFill>
              <a:srgbClr val="FF3B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1"/>
          <p:cNvSpPr/>
          <p:nvPr/>
        </p:nvSpPr>
        <p:spPr>
          <a:xfrm>
            <a:off x="5343754" y="4764024"/>
            <a:ext cx="457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48%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1"/>
          <p:cNvSpPr txBox="1"/>
          <p:nvPr/>
        </p:nvSpPr>
        <p:spPr>
          <a:xfrm>
            <a:off x="490700" y="174100"/>
            <a:ext cx="1551300" cy="328800"/>
          </a:xfrm>
          <a:prstGeom prst="rect">
            <a:avLst/>
          </a:prstGeom>
          <a:solidFill>
            <a:srgbClr val="00CC6A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/>
              <a:t>“My model is generalizing , not bluffing”</a:t>
            </a:r>
            <a:endParaRPr b="1" sz="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F1E"/>
        </a:solidFill>
      </p:bgPr>
    </p:bg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2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BBF24"/>
          </a:solidFill>
          <a:ln cap="flat" cmpd="sng" w="12700">
            <a:solidFill>
              <a:srgbClr val="FBB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2"/>
          <p:cNvSpPr/>
          <p:nvPr/>
        </p:nvSpPr>
        <p:spPr>
          <a:xfrm>
            <a:off x="502920" y="5029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Trebuchet MS"/>
              <a:buNone/>
            </a:pPr>
            <a:r>
              <a:rPr b="1" i="0" lang="en-US" sz="25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Metrics: Stability &amp; Error Analysis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2"/>
          <p:cNvSpPr/>
          <p:nvPr/>
        </p:nvSpPr>
        <p:spPr>
          <a:xfrm>
            <a:off x="502920" y="987552"/>
            <a:ext cx="8138160" cy="22860"/>
          </a:xfrm>
          <a:prstGeom prst="rect">
            <a:avLst/>
          </a:prstGeom>
          <a:solidFill>
            <a:srgbClr val="00FF87"/>
          </a:solidFill>
          <a:ln cap="flat" cmpd="sng" w="12700">
            <a:solidFill>
              <a:srgbClr val="00FF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2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07 / 11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2"/>
          <p:cNvSpPr/>
          <p:nvPr/>
        </p:nvSpPr>
        <p:spPr>
          <a:xfrm>
            <a:off x="502920" y="1051560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FF87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0FF87"/>
                </a:solidFill>
                <a:latin typeface="Calibri"/>
                <a:ea typeface="Calibri"/>
                <a:cs typeface="Calibri"/>
                <a:sym typeface="Calibri"/>
              </a:rPr>
              <a:t>STRONG CLASSES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2"/>
          <p:cNvSpPr/>
          <p:nvPr/>
        </p:nvSpPr>
        <p:spPr>
          <a:xfrm>
            <a:off x="4892040" y="1051560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BBF24"/>
                </a:solidFill>
                <a:latin typeface="Calibri"/>
                <a:ea typeface="Calibri"/>
                <a:cs typeface="Calibri"/>
                <a:sym typeface="Calibri"/>
              </a:rPr>
              <a:t>WEAKER CLASSES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2"/>
          <p:cNvSpPr/>
          <p:nvPr/>
        </p:nvSpPr>
        <p:spPr>
          <a:xfrm>
            <a:off x="502920" y="1371600"/>
            <a:ext cx="3931920" cy="685800"/>
          </a:xfrm>
          <a:prstGeom prst="rect">
            <a:avLst/>
          </a:prstGeom>
          <a:solidFill>
            <a:srgbClr val="1A2235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2"/>
          <p:cNvSpPr/>
          <p:nvPr/>
        </p:nvSpPr>
        <p:spPr>
          <a:xfrm>
            <a:off x="502920" y="1371600"/>
            <a:ext cx="54864" cy="685800"/>
          </a:xfrm>
          <a:prstGeom prst="rect">
            <a:avLst/>
          </a:prstGeom>
          <a:solidFill>
            <a:srgbClr val="00FF87"/>
          </a:solidFill>
          <a:ln cap="flat" cmpd="sng" w="12700">
            <a:solidFill>
              <a:srgbClr val="00FF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11" name="Google Shape;31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1508760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12"/>
          <p:cNvSpPr/>
          <p:nvPr/>
        </p:nvSpPr>
        <p:spPr>
          <a:xfrm>
            <a:off x="1170432" y="1426464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DANGER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2"/>
          <p:cNvSpPr/>
          <p:nvPr/>
        </p:nvSpPr>
        <p:spPr>
          <a:xfrm>
            <a:off x="1170432" y="1719072"/>
            <a:ext cx="3108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Clear hand-to-face pattern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2"/>
          <p:cNvSpPr/>
          <p:nvPr/>
        </p:nvSpPr>
        <p:spPr>
          <a:xfrm>
            <a:off x="502920" y="2194560"/>
            <a:ext cx="3931920" cy="685800"/>
          </a:xfrm>
          <a:prstGeom prst="rect">
            <a:avLst/>
          </a:prstGeom>
          <a:solidFill>
            <a:srgbClr val="1A2235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2"/>
          <p:cNvSpPr/>
          <p:nvPr/>
        </p:nvSpPr>
        <p:spPr>
          <a:xfrm>
            <a:off x="502920" y="2194560"/>
            <a:ext cx="54864" cy="685800"/>
          </a:xfrm>
          <a:prstGeom prst="rect">
            <a:avLst/>
          </a:prstGeom>
          <a:solidFill>
            <a:srgbClr val="00FF87"/>
          </a:solidFill>
          <a:ln cap="flat" cmpd="sng" w="12700">
            <a:solidFill>
              <a:srgbClr val="00FF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16" name="Google Shape;316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5800" y="2331720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12"/>
          <p:cNvSpPr/>
          <p:nvPr/>
        </p:nvSpPr>
        <p:spPr>
          <a:xfrm>
            <a:off x="1170432" y="2249424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HELP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2"/>
          <p:cNvSpPr/>
          <p:nvPr/>
        </p:nvSpPr>
        <p:spPr>
          <a:xfrm>
            <a:off x="1170432" y="2542032"/>
            <a:ext cx="3108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Distinct upper-body raise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2"/>
          <p:cNvSpPr/>
          <p:nvPr/>
        </p:nvSpPr>
        <p:spPr>
          <a:xfrm>
            <a:off x="502920" y="3017520"/>
            <a:ext cx="3931920" cy="685800"/>
          </a:xfrm>
          <a:prstGeom prst="rect">
            <a:avLst/>
          </a:prstGeom>
          <a:solidFill>
            <a:srgbClr val="1A2235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2"/>
          <p:cNvSpPr/>
          <p:nvPr/>
        </p:nvSpPr>
        <p:spPr>
          <a:xfrm>
            <a:off x="502920" y="3017520"/>
            <a:ext cx="54864" cy="685800"/>
          </a:xfrm>
          <a:prstGeom prst="rect">
            <a:avLst/>
          </a:prstGeom>
          <a:solidFill>
            <a:srgbClr val="00FF87"/>
          </a:solidFill>
          <a:ln cap="flat" cmpd="sng" w="12700">
            <a:solidFill>
              <a:srgbClr val="00FF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21" name="Google Shape;321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5800" y="3154680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12"/>
          <p:cNvSpPr/>
          <p:nvPr/>
        </p:nvSpPr>
        <p:spPr>
          <a:xfrm>
            <a:off x="1170432" y="3072384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ABORT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2"/>
          <p:cNvSpPr/>
          <p:nvPr/>
        </p:nvSpPr>
        <p:spPr>
          <a:xfrm>
            <a:off x="1170432" y="3364992"/>
            <a:ext cx="3108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Strong lateral motion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2"/>
          <p:cNvSpPr/>
          <p:nvPr/>
        </p:nvSpPr>
        <p:spPr>
          <a:xfrm>
            <a:off x="502920" y="3840480"/>
            <a:ext cx="3931920" cy="685800"/>
          </a:xfrm>
          <a:prstGeom prst="rect">
            <a:avLst/>
          </a:prstGeom>
          <a:solidFill>
            <a:srgbClr val="1A2235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2"/>
          <p:cNvSpPr/>
          <p:nvPr/>
        </p:nvSpPr>
        <p:spPr>
          <a:xfrm>
            <a:off x="502920" y="3840480"/>
            <a:ext cx="54864" cy="685800"/>
          </a:xfrm>
          <a:prstGeom prst="rect">
            <a:avLst/>
          </a:prstGeom>
          <a:solidFill>
            <a:srgbClr val="00FF87"/>
          </a:solidFill>
          <a:ln cap="flat" cmpd="sng" w="12700">
            <a:solidFill>
              <a:srgbClr val="00FF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26" name="Google Shape;326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85800" y="3977640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12"/>
          <p:cNvSpPr/>
          <p:nvPr/>
        </p:nvSpPr>
        <p:spPr>
          <a:xfrm>
            <a:off x="1170432" y="3895344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NEED BACKUP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2"/>
          <p:cNvSpPr/>
          <p:nvPr/>
        </p:nvSpPr>
        <p:spPr>
          <a:xfrm>
            <a:off x="1170432" y="4187952"/>
            <a:ext cx="3108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Unique </a:t>
            </a:r>
            <a:r>
              <a:rPr lang="en-US" sz="10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hand twist </a:t>
            </a: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posture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2"/>
          <p:cNvSpPr/>
          <p:nvPr/>
        </p:nvSpPr>
        <p:spPr>
          <a:xfrm>
            <a:off x="4892040" y="1371600"/>
            <a:ext cx="3931920" cy="685800"/>
          </a:xfrm>
          <a:prstGeom prst="rect">
            <a:avLst/>
          </a:prstGeom>
          <a:solidFill>
            <a:srgbClr val="1A2235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2"/>
          <p:cNvSpPr/>
          <p:nvPr/>
        </p:nvSpPr>
        <p:spPr>
          <a:xfrm>
            <a:off x="4892040" y="1371600"/>
            <a:ext cx="54864" cy="685800"/>
          </a:xfrm>
          <a:prstGeom prst="rect">
            <a:avLst/>
          </a:prstGeom>
          <a:solidFill>
            <a:srgbClr val="FBBF24"/>
          </a:solidFill>
          <a:ln cap="flat" cmpd="sng" w="12700">
            <a:solidFill>
              <a:srgbClr val="FBB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1" name="Google Shape;331;p1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074920" y="1508760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12"/>
          <p:cNvSpPr/>
          <p:nvPr/>
        </p:nvSpPr>
        <p:spPr>
          <a:xfrm>
            <a:off x="5559552" y="1426464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STAY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2"/>
          <p:cNvSpPr/>
          <p:nvPr/>
        </p:nvSpPr>
        <p:spPr>
          <a:xfrm>
            <a:off x="5559552" y="1719072"/>
            <a:ext cx="3108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Subtle — overlaps with </a:t>
            </a:r>
            <a:r>
              <a:rPr lang="en-US" sz="10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help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2"/>
          <p:cNvSpPr/>
          <p:nvPr/>
        </p:nvSpPr>
        <p:spPr>
          <a:xfrm>
            <a:off x="4892040" y="2194560"/>
            <a:ext cx="3931920" cy="685800"/>
          </a:xfrm>
          <a:prstGeom prst="rect">
            <a:avLst/>
          </a:prstGeom>
          <a:solidFill>
            <a:srgbClr val="1A2235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2"/>
          <p:cNvSpPr/>
          <p:nvPr/>
        </p:nvSpPr>
        <p:spPr>
          <a:xfrm>
            <a:off x="4892040" y="2194560"/>
            <a:ext cx="54864" cy="685800"/>
          </a:xfrm>
          <a:prstGeom prst="rect">
            <a:avLst/>
          </a:prstGeom>
          <a:solidFill>
            <a:srgbClr val="FBBF24"/>
          </a:solidFill>
          <a:ln cap="flat" cmpd="sng" w="12700">
            <a:solidFill>
              <a:srgbClr val="FBB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6" name="Google Shape;336;p1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074920" y="2331720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12"/>
          <p:cNvSpPr/>
          <p:nvPr/>
        </p:nvSpPr>
        <p:spPr>
          <a:xfrm>
            <a:off x="5559552" y="2249424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SAFE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2"/>
          <p:cNvSpPr/>
          <p:nvPr/>
        </p:nvSpPr>
        <p:spPr>
          <a:xfrm>
            <a:off x="5559552" y="2542032"/>
            <a:ext cx="3108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Low motion delta signature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2"/>
          <p:cNvSpPr/>
          <p:nvPr/>
        </p:nvSpPr>
        <p:spPr>
          <a:xfrm>
            <a:off x="4892040" y="3017520"/>
            <a:ext cx="3931920" cy="685800"/>
          </a:xfrm>
          <a:prstGeom prst="rect">
            <a:avLst/>
          </a:prstGeom>
          <a:solidFill>
            <a:srgbClr val="1A2235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12"/>
          <p:cNvSpPr/>
          <p:nvPr/>
        </p:nvSpPr>
        <p:spPr>
          <a:xfrm>
            <a:off x="4892040" y="3017520"/>
            <a:ext cx="54864" cy="685800"/>
          </a:xfrm>
          <a:prstGeom prst="rect">
            <a:avLst/>
          </a:prstGeom>
          <a:solidFill>
            <a:srgbClr val="FBBF24"/>
          </a:solidFill>
          <a:ln cap="flat" cmpd="sng" w="12700">
            <a:solidFill>
              <a:srgbClr val="FBB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41" name="Google Shape;341;p1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074920" y="3154680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12"/>
          <p:cNvSpPr/>
          <p:nvPr/>
        </p:nvSpPr>
        <p:spPr>
          <a:xfrm>
            <a:off x="5559552" y="3072384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PROCEED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2"/>
          <p:cNvSpPr/>
          <p:nvPr/>
        </p:nvSpPr>
        <p:spPr>
          <a:xfrm>
            <a:off x="5559552" y="3364992"/>
            <a:ext cx="3108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Frames ambiguity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2"/>
          <p:cNvSpPr/>
          <p:nvPr/>
        </p:nvSpPr>
        <p:spPr>
          <a:xfrm>
            <a:off x="4892040" y="3840480"/>
            <a:ext cx="3931920" cy="685800"/>
          </a:xfrm>
          <a:prstGeom prst="rect">
            <a:avLst/>
          </a:prstGeom>
          <a:solidFill>
            <a:srgbClr val="1A2235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12"/>
          <p:cNvSpPr/>
          <p:nvPr/>
        </p:nvSpPr>
        <p:spPr>
          <a:xfrm>
            <a:off x="4892040" y="3840480"/>
            <a:ext cx="54864" cy="685800"/>
          </a:xfrm>
          <a:prstGeom prst="rect">
            <a:avLst/>
          </a:prstGeom>
          <a:solidFill>
            <a:srgbClr val="FBBF24"/>
          </a:solidFill>
          <a:ln cap="flat" cmpd="sng" w="12700">
            <a:solidFill>
              <a:srgbClr val="FBB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46" name="Google Shape;346;p1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074920" y="3977640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12"/>
          <p:cNvSpPr/>
          <p:nvPr/>
        </p:nvSpPr>
        <p:spPr>
          <a:xfrm>
            <a:off x="5559552" y="3895344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NO GESTURE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2"/>
          <p:cNvSpPr/>
          <p:nvPr/>
        </p:nvSpPr>
        <p:spPr>
          <a:xfrm>
            <a:off x="5559552" y="4187952"/>
            <a:ext cx="3108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Ambiguous — no clear motion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2"/>
          <p:cNvSpPr/>
          <p:nvPr/>
        </p:nvSpPr>
        <p:spPr>
          <a:xfrm>
            <a:off x="502920" y="4736592"/>
            <a:ext cx="8321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FF87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00FF87"/>
                </a:solidFill>
                <a:latin typeface="Calibri"/>
                <a:ea typeface="Calibri"/>
                <a:cs typeface="Calibri"/>
                <a:sym typeface="Calibri"/>
              </a:rPr>
              <a:t>System mitigations: confidence ranking · detection logs · SAFE eye-closure override (2-sec rule)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2"/>
          <p:cNvSpPr txBox="1"/>
          <p:nvPr/>
        </p:nvSpPr>
        <p:spPr>
          <a:xfrm>
            <a:off x="472550" y="246675"/>
            <a:ext cx="2839500" cy="255900"/>
          </a:xfrm>
          <a:prstGeom prst="rect">
            <a:avLst/>
          </a:prstGeom>
          <a:solidFill>
            <a:srgbClr val="00CC6A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/>
              <a:t>“With great power comes great responsibility.”</a:t>
            </a:r>
            <a:endParaRPr b="1" sz="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F1E"/>
        </a:solidFill>
      </p:bgPr>
    </p:bg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13"/>
          <p:cNvSpPr/>
          <p:nvPr/>
        </p:nvSpPr>
        <p:spPr>
          <a:xfrm>
            <a:off x="0" y="0"/>
            <a:ext cx="63900" cy="5143500"/>
          </a:xfrm>
          <a:prstGeom prst="rect">
            <a:avLst/>
          </a:prstGeom>
          <a:solidFill>
            <a:srgbClr val="00FF87"/>
          </a:solidFill>
          <a:ln cap="flat" cmpd="sng" w="12700">
            <a:solidFill>
              <a:srgbClr val="00FF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3"/>
          <p:cNvSpPr/>
          <p:nvPr/>
        </p:nvSpPr>
        <p:spPr>
          <a:xfrm>
            <a:off x="8046720" y="4754880"/>
            <a:ext cx="914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8" name="Google Shape;358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6475" y="245125"/>
            <a:ext cx="6951045" cy="4653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F1E"/>
        </a:solidFill>
      </p:bgPr>
    </p:bg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14"/>
          <p:cNvSpPr/>
          <p:nvPr/>
        </p:nvSpPr>
        <p:spPr>
          <a:xfrm>
            <a:off x="0" y="0"/>
            <a:ext cx="63900" cy="5143500"/>
          </a:xfrm>
          <a:prstGeom prst="rect">
            <a:avLst/>
          </a:prstGeom>
          <a:solidFill>
            <a:srgbClr val="00FF87"/>
          </a:solidFill>
          <a:ln cap="flat" cmpd="sng" w="12700">
            <a:solidFill>
              <a:srgbClr val="00FF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14"/>
          <p:cNvSpPr/>
          <p:nvPr/>
        </p:nvSpPr>
        <p:spPr>
          <a:xfrm>
            <a:off x="8046720" y="4754880"/>
            <a:ext cx="914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6" name="Google Shape;36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9751" y="593558"/>
            <a:ext cx="8081352" cy="3863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F1E"/>
        </a:solidFill>
      </p:bgPr>
    </p:bg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15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BBF24"/>
          </a:solidFill>
          <a:ln cap="flat" cmpd="sng" w="12700">
            <a:solidFill>
              <a:srgbClr val="FBB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5"/>
          <p:cNvSpPr/>
          <p:nvPr/>
        </p:nvSpPr>
        <p:spPr>
          <a:xfrm>
            <a:off x="350520" y="45720"/>
            <a:ext cx="8229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Trebuchet MS"/>
              <a:buNone/>
            </a:pPr>
            <a:r>
              <a:rPr b="1" i="0" lang="en-US" sz="25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Dashboard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5"/>
          <p:cNvSpPr/>
          <p:nvPr/>
        </p:nvSpPr>
        <p:spPr>
          <a:xfrm>
            <a:off x="502920" y="563880"/>
            <a:ext cx="3931800" cy="3474600"/>
          </a:xfrm>
          <a:prstGeom prst="rect">
            <a:avLst/>
          </a:prstGeom>
          <a:solidFill>
            <a:srgbClr val="1A2235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5" name="Google Shape;37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03120" y="624840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p15"/>
          <p:cNvSpPr/>
          <p:nvPr/>
        </p:nvSpPr>
        <p:spPr>
          <a:xfrm>
            <a:off x="502920" y="1234440"/>
            <a:ext cx="3931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FBBF24"/>
                </a:solidFill>
                <a:latin typeface="Trebuchet MS"/>
                <a:ea typeface="Trebuchet MS"/>
                <a:cs typeface="Trebuchet MS"/>
                <a:sym typeface="Trebuchet MS"/>
              </a:rPr>
              <a:t>JETSON EDGE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5"/>
          <p:cNvSpPr/>
          <p:nvPr/>
        </p:nvSpPr>
        <p:spPr>
          <a:xfrm>
            <a:off x="502920" y="2286000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t/>
            </a:r>
            <a:endParaRPr sz="1100">
              <a:solidFill>
                <a:srgbClr val="94A3B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5"/>
          <p:cNvSpPr/>
          <p:nvPr/>
        </p:nvSpPr>
        <p:spPr>
          <a:xfrm>
            <a:off x="1143000" y="2715768"/>
            <a:ext cx="3108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5"/>
          <p:cNvSpPr/>
          <p:nvPr/>
        </p:nvSpPr>
        <p:spPr>
          <a:xfrm>
            <a:off x="1143000" y="3154680"/>
            <a:ext cx="3108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5"/>
          <p:cNvSpPr/>
          <p:nvPr/>
        </p:nvSpPr>
        <p:spPr>
          <a:xfrm>
            <a:off x="1143000" y="3593592"/>
            <a:ext cx="3108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81" name="Google Shape;38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2905" y="1833350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15"/>
          <p:cNvSpPr/>
          <p:nvPr/>
        </p:nvSpPr>
        <p:spPr>
          <a:xfrm>
            <a:off x="812358" y="1805975"/>
            <a:ext cx="3337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Live camera feed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83" name="Google Shape;38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2905" y="2191446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15"/>
          <p:cNvSpPr/>
          <p:nvPr/>
        </p:nvSpPr>
        <p:spPr>
          <a:xfrm>
            <a:off x="812358" y="2186196"/>
            <a:ext cx="3337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Current detected action + confidence score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85" name="Google Shape;385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2905" y="2549543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p15"/>
          <p:cNvSpPr/>
          <p:nvPr/>
        </p:nvSpPr>
        <p:spPr>
          <a:xfrm>
            <a:off x="812346" y="2532468"/>
            <a:ext cx="3337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Alert level indicator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87" name="Google Shape;387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2905" y="2907652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15"/>
          <p:cNvSpPr/>
          <p:nvPr/>
        </p:nvSpPr>
        <p:spPr>
          <a:xfrm>
            <a:off x="812346" y="2889902"/>
            <a:ext cx="3337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Landmark status display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89" name="Google Shape;38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2905" y="3265761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p15"/>
          <p:cNvSpPr/>
          <p:nvPr/>
        </p:nvSpPr>
        <p:spPr>
          <a:xfrm>
            <a:off x="812321" y="3241685"/>
            <a:ext cx="3337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Recent detection logs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91" name="Google Shape;39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2905" y="3643070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p15"/>
          <p:cNvSpPr/>
          <p:nvPr/>
        </p:nvSpPr>
        <p:spPr>
          <a:xfrm>
            <a:off x="812321" y="3634482"/>
            <a:ext cx="3337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Eye-closure SAFE override (2s timer)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5"/>
          <p:cNvSpPr/>
          <p:nvPr/>
        </p:nvSpPr>
        <p:spPr>
          <a:xfrm>
            <a:off x="502920" y="4736592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FF87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00FF87"/>
                </a:solidFill>
                <a:latin typeface="Calibri"/>
                <a:ea typeface="Calibri"/>
                <a:cs typeface="Calibri"/>
                <a:sym typeface="Calibri"/>
              </a:rPr>
              <a:t>Together: a complete working monitoring prototype.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4" name="Google Shape;394;p15" title="Screen Recording 2026-05-19 at 1.55.04 AM.mov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87240" y="746820"/>
            <a:ext cx="4404360" cy="33032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F1E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16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FF87"/>
          </a:solidFill>
          <a:ln cap="flat" cmpd="sng" w="12700">
            <a:solidFill>
              <a:srgbClr val="00FF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16"/>
          <p:cNvSpPr/>
          <p:nvPr/>
        </p:nvSpPr>
        <p:spPr>
          <a:xfrm>
            <a:off x="502920" y="5029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Trebuchet MS"/>
              <a:buNone/>
            </a:pPr>
            <a:r>
              <a:rPr b="1" i="0" lang="en-US" sz="25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Conclusion: Silent Gesture → Actionable Alert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6"/>
          <p:cNvSpPr/>
          <p:nvPr/>
        </p:nvSpPr>
        <p:spPr>
          <a:xfrm>
            <a:off x="502920" y="1115568"/>
            <a:ext cx="8138160" cy="22860"/>
          </a:xfrm>
          <a:prstGeom prst="rect">
            <a:avLst/>
          </a:prstGeom>
          <a:solidFill>
            <a:srgbClr val="00FF87"/>
          </a:solidFill>
          <a:ln cap="flat" cmpd="sng" w="12700">
            <a:solidFill>
              <a:srgbClr val="00FF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16"/>
          <p:cNvSpPr/>
          <p:nvPr/>
        </p:nvSpPr>
        <p:spPr>
          <a:xfrm>
            <a:off x="502920" y="228600"/>
            <a:ext cx="969264" cy="256032"/>
          </a:xfrm>
          <a:prstGeom prst="rect">
            <a:avLst/>
          </a:prstGeom>
          <a:solidFill>
            <a:srgbClr val="00CC6A"/>
          </a:solidFill>
          <a:ln cap="flat" cmpd="sng" w="12700">
            <a:solidFill>
              <a:srgbClr val="00CC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16"/>
          <p:cNvSpPr/>
          <p:nvPr/>
        </p:nvSpPr>
        <p:spPr>
          <a:xfrm>
            <a:off x="502920" y="228600"/>
            <a:ext cx="96926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0F1E"/>
              </a:buClr>
              <a:buSzPts val="800"/>
              <a:buFont typeface="Calibri"/>
              <a:buNone/>
            </a:pPr>
            <a:r>
              <a:rPr b="1" lang="en-US" sz="800">
                <a:solidFill>
                  <a:srgbClr val="0A0F1E"/>
                </a:solidFill>
                <a:latin typeface="Calibri"/>
                <a:ea typeface="Calibri"/>
                <a:cs typeface="Calibri"/>
                <a:sym typeface="Calibri"/>
              </a:rPr>
              <a:t>“End of the </a:t>
            </a:r>
            <a:r>
              <a:rPr b="1" lang="en-US" sz="800">
                <a:solidFill>
                  <a:srgbClr val="0A0F1E"/>
                </a:solidFill>
                <a:latin typeface="Calibri"/>
                <a:ea typeface="Calibri"/>
                <a:cs typeface="Calibri"/>
                <a:sym typeface="Calibri"/>
              </a:rPr>
              <a:t>beginning</a:t>
            </a:r>
            <a:r>
              <a:rPr b="1" lang="en-US" sz="800">
                <a:solidFill>
                  <a:srgbClr val="0A0F1E"/>
                </a:solidFill>
                <a:latin typeface="Calibri"/>
                <a:ea typeface="Calibri"/>
                <a:cs typeface="Calibri"/>
                <a:sym typeface="Calibri"/>
              </a:rPr>
              <a:t>? No!”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6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09 / 11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6"/>
          <p:cNvSpPr/>
          <p:nvPr/>
        </p:nvSpPr>
        <p:spPr>
          <a:xfrm>
            <a:off x="457200" y="1188720"/>
            <a:ext cx="1920240" cy="1920240"/>
          </a:xfrm>
          <a:prstGeom prst="rect">
            <a:avLst/>
          </a:prstGeom>
          <a:solidFill>
            <a:srgbClr val="1A2235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07" name="Google Shape;40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88720" y="141732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408" name="Google Shape;408;p16"/>
          <p:cNvSpPr/>
          <p:nvPr/>
        </p:nvSpPr>
        <p:spPr>
          <a:xfrm>
            <a:off x="457200" y="2011680"/>
            <a:ext cx="1920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Silent emergency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gesture captured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09" name="Google Shape;409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23160" y="2075688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410" name="Google Shape;410;p16"/>
          <p:cNvSpPr/>
          <p:nvPr/>
        </p:nvSpPr>
        <p:spPr>
          <a:xfrm>
            <a:off x="2633472" y="1188720"/>
            <a:ext cx="1920240" cy="1920240"/>
          </a:xfrm>
          <a:prstGeom prst="rect">
            <a:avLst/>
          </a:prstGeom>
          <a:solidFill>
            <a:srgbClr val="1A2235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1" name="Google Shape;411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64992" y="141732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412" name="Google Shape;412;p16"/>
          <p:cNvSpPr/>
          <p:nvPr/>
        </p:nvSpPr>
        <p:spPr>
          <a:xfrm>
            <a:off x="2633472" y="2011680"/>
            <a:ext cx="1920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Converted to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structured keypoints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13" name="Google Shape;41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99432" y="2075688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414" name="Google Shape;414;p16"/>
          <p:cNvSpPr/>
          <p:nvPr/>
        </p:nvSpPr>
        <p:spPr>
          <a:xfrm>
            <a:off x="4809744" y="1188720"/>
            <a:ext cx="1920240" cy="1920240"/>
          </a:xfrm>
          <a:prstGeom prst="rect">
            <a:avLst/>
          </a:prstGeom>
          <a:solidFill>
            <a:srgbClr val="1A2235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5" name="Google Shape;415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541264" y="141732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16"/>
          <p:cNvSpPr/>
          <p:nvPr/>
        </p:nvSpPr>
        <p:spPr>
          <a:xfrm>
            <a:off x="4809744" y="2011680"/>
            <a:ext cx="1920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Classified by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temporal model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17" name="Google Shape;41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75704" y="2075688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p16"/>
          <p:cNvSpPr/>
          <p:nvPr/>
        </p:nvSpPr>
        <p:spPr>
          <a:xfrm>
            <a:off x="6986016" y="1188720"/>
            <a:ext cx="1920240" cy="1920240"/>
          </a:xfrm>
          <a:prstGeom prst="rect">
            <a:avLst/>
          </a:prstGeom>
          <a:solidFill>
            <a:srgbClr val="1A2235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9" name="Google Shape;419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717536" y="141732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16"/>
          <p:cNvSpPr/>
          <p:nvPr/>
        </p:nvSpPr>
        <p:spPr>
          <a:xfrm>
            <a:off x="6986016" y="2011680"/>
            <a:ext cx="1920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Displayed as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real-time alert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6"/>
          <p:cNvSpPr/>
          <p:nvPr/>
        </p:nvSpPr>
        <p:spPr>
          <a:xfrm>
            <a:off x="502920" y="3337560"/>
            <a:ext cx="8321040" cy="1188720"/>
          </a:xfrm>
          <a:prstGeom prst="rect">
            <a:avLst/>
          </a:prstGeom>
          <a:solidFill>
            <a:srgbClr val="111827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16"/>
          <p:cNvSpPr/>
          <p:nvPr/>
        </p:nvSpPr>
        <p:spPr>
          <a:xfrm>
            <a:off x="502920" y="3337560"/>
            <a:ext cx="73152" cy="1188720"/>
          </a:xfrm>
          <a:prstGeom prst="rect">
            <a:avLst/>
          </a:prstGeom>
          <a:solidFill>
            <a:srgbClr val="00FF87"/>
          </a:solidFill>
          <a:ln cap="flat" cmpd="sng" w="12700">
            <a:solidFill>
              <a:srgbClr val="00FF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16"/>
          <p:cNvSpPr/>
          <p:nvPr/>
        </p:nvSpPr>
        <p:spPr>
          <a:xfrm>
            <a:off x="731520" y="3401568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FF87"/>
              </a:buClr>
              <a:buSzPts val="900"/>
              <a:buFont typeface="Trebuchet MS"/>
              <a:buNone/>
            </a:pPr>
            <a:r>
              <a:rPr b="1" i="0" lang="en-US" sz="900" u="none" cap="none" strike="noStrike">
                <a:solidFill>
                  <a:srgbClr val="00FF87"/>
                </a:solidFill>
                <a:latin typeface="Trebuchet MS"/>
                <a:ea typeface="Trebuchet MS"/>
                <a:cs typeface="Trebuchet MS"/>
                <a:sym typeface="Trebuchet MS"/>
              </a:rPr>
              <a:t>KEY ACHIEVEMENT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6"/>
          <p:cNvSpPr/>
          <p:nvPr/>
        </p:nvSpPr>
        <p:spPr>
          <a:xfrm>
            <a:off x="731520" y="3703320"/>
            <a:ext cx="79552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Not just model accuracy — a complete working prototype that connects gesture recognition with a practical monitoring interface. Camera-based AI turning silent physical signals into actionable alerts.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F1E"/>
        </a:solidFill>
      </p:bgPr>
    </p:bg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17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FF87"/>
          </a:solidFill>
          <a:ln cap="flat" cmpd="sng" w="12700">
            <a:solidFill>
              <a:srgbClr val="00FF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17"/>
          <p:cNvSpPr/>
          <p:nvPr/>
        </p:nvSpPr>
        <p:spPr>
          <a:xfrm>
            <a:off x="502920" y="5029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Trebuchet MS"/>
              <a:buNone/>
            </a:pPr>
            <a:r>
              <a:rPr b="1" i="0" lang="en-US" sz="25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Next Steps: Path to Generalization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7"/>
          <p:cNvSpPr/>
          <p:nvPr/>
        </p:nvSpPr>
        <p:spPr>
          <a:xfrm>
            <a:off x="502920" y="1115568"/>
            <a:ext cx="8138160" cy="22860"/>
          </a:xfrm>
          <a:prstGeom prst="rect">
            <a:avLst/>
          </a:prstGeom>
          <a:solidFill>
            <a:srgbClr val="00FF87"/>
          </a:solidFill>
          <a:ln cap="flat" cmpd="sng" w="12700">
            <a:solidFill>
              <a:srgbClr val="00FF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17"/>
          <p:cNvSpPr/>
          <p:nvPr/>
        </p:nvSpPr>
        <p:spPr>
          <a:xfrm>
            <a:off x="502920" y="228600"/>
            <a:ext cx="969264" cy="256032"/>
          </a:xfrm>
          <a:prstGeom prst="rect">
            <a:avLst/>
          </a:prstGeom>
          <a:solidFill>
            <a:srgbClr val="00CC6A"/>
          </a:solidFill>
          <a:ln cap="flat" cmpd="sng" w="12700">
            <a:solidFill>
              <a:srgbClr val="00CC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17"/>
          <p:cNvSpPr/>
          <p:nvPr/>
        </p:nvSpPr>
        <p:spPr>
          <a:xfrm>
            <a:off x="502920" y="228600"/>
            <a:ext cx="96926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0F1E"/>
              </a:buClr>
              <a:buSzPts val="800"/>
              <a:buFont typeface="Calibri"/>
              <a:buNone/>
            </a:pPr>
            <a:r>
              <a:rPr b="1" lang="en-US" sz="800">
                <a:solidFill>
                  <a:srgbClr val="0A0F1E"/>
                </a:solidFill>
                <a:latin typeface="Calibri"/>
                <a:ea typeface="Calibri"/>
                <a:cs typeface="Calibri"/>
                <a:sym typeface="Calibri"/>
              </a:rPr>
              <a:t>“Feed me More!”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7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10 / 11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7"/>
          <p:cNvSpPr/>
          <p:nvPr/>
        </p:nvSpPr>
        <p:spPr>
          <a:xfrm>
            <a:off x="502920" y="1143000"/>
            <a:ext cx="8321040" cy="1024128"/>
          </a:xfrm>
          <a:prstGeom prst="rect">
            <a:avLst/>
          </a:prstGeom>
          <a:solidFill>
            <a:srgbClr val="1A2235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17"/>
          <p:cNvSpPr/>
          <p:nvPr/>
        </p:nvSpPr>
        <p:spPr>
          <a:xfrm>
            <a:off x="502920" y="1143000"/>
            <a:ext cx="73152" cy="1024128"/>
          </a:xfrm>
          <a:prstGeom prst="rect">
            <a:avLst/>
          </a:prstGeom>
          <a:solidFill>
            <a:srgbClr val="00FF87"/>
          </a:solidFill>
          <a:ln cap="flat" cmpd="sng" w="12700">
            <a:solidFill>
              <a:srgbClr val="00FF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17"/>
          <p:cNvSpPr/>
          <p:nvPr/>
        </p:nvSpPr>
        <p:spPr>
          <a:xfrm>
            <a:off x="685800" y="1344168"/>
            <a:ext cx="7315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FF87"/>
              </a:buClr>
              <a:buSzPts val="3200"/>
              <a:buFont typeface="Impact"/>
              <a:buNone/>
            </a:pPr>
            <a:r>
              <a:rPr b="1" i="0" lang="en-US" sz="3200" u="none" cap="none" strike="noStrike">
                <a:solidFill>
                  <a:srgbClr val="00FF87"/>
                </a:solidFill>
                <a:latin typeface="Impact"/>
                <a:ea typeface="Impact"/>
                <a:cs typeface="Impact"/>
                <a:sym typeface="Impact"/>
              </a:rPr>
              <a:t>01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39" name="Google Shape;43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08760" y="1435608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440" name="Google Shape;440;p17"/>
          <p:cNvSpPr/>
          <p:nvPr/>
        </p:nvSpPr>
        <p:spPr>
          <a:xfrm>
            <a:off x="2057400" y="1216152"/>
            <a:ext cx="2743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Scale the Dataset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7"/>
          <p:cNvSpPr/>
          <p:nvPr/>
        </p:nvSpPr>
        <p:spPr>
          <a:xfrm>
            <a:off x="2057400" y="1618488"/>
            <a:ext cx="6583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More users · diverse lighting conditions · varied camera angles · additional gesture variations → better generalization beyond the personalized prototype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7"/>
          <p:cNvSpPr/>
          <p:nvPr/>
        </p:nvSpPr>
        <p:spPr>
          <a:xfrm>
            <a:off x="502920" y="2331720"/>
            <a:ext cx="8321040" cy="1024128"/>
          </a:xfrm>
          <a:prstGeom prst="rect">
            <a:avLst/>
          </a:prstGeom>
          <a:solidFill>
            <a:srgbClr val="1A2235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17"/>
          <p:cNvSpPr/>
          <p:nvPr/>
        </p:nvSpPr>
        <p:spPr>
          <a:xfrm>
            <a:off x="502920" y="2331720"/>
            <a:ext cx="73152" cy="1024128"/>
          </a:xfrm>
          <a:prstGeom prst="rect">
            <a:avLst/>
          </a:prstGeom>
          <a:solidFill>
            <a:srgbClr val="FBBF24"/>
          </a:solidFill>
          <a:ln cap="flat" cmpd="sng" w="12700">
            <a:solidFill>
              <a:srgbClr val="FBB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17"/>
          <p:cNvSpPr/>
          <p:nvPr/>
        </p:nvSpPr>
        <p:spPr>
          <a:xfrm>
            <a:off x="685800" y="2532888"/>
            <a:ext cx="7315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3200"/>
              <a:buFont typeface="Impact"/>
              <a:buNone/>
            </a:pPr>
            <a:r>
              <a:rPr b="1" i="0" lang="en-US" sz="3200" u="none" cap="none" strike="noStrike">
                <a:solidFill>
                  <a:srgbClr val="FBBF24"/>
                </a:solidFill>
                <a:latin typeface="Impact"/>
                <a:ea typeface="Impact"/>
                <a:cs typeface="Impact"/>
                <a:sym typeface="Impact"/>
              </a:rPr>
              <a:t>02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45" name="Google Shape;445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08760" y="2624328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446" name="Google Shape;446;p17"/>
          <p:cNvSpPr/>
          <p:nvPr/>
        </p:nvSpPr>
        <p:spPr>
          <a:xfrm>
            <a:off x="2057400" y="2404872"/>
            <a:ext cx="2743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Improve Weak Classes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7"/>
          <p:cNvSpPr/>
          <p:nvPr/>
        </p:nvSpPr>
        <p:spPr>
          <a:xfrm>
            <a:off x="2057400" y="2807208"/>
            <a:ext cx="6583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Focus on stay · safe · proceed · no_gesture — which showed highest confusion. Targeted data collection and class-specific augmentation strategies.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7"/>
          <p:cNvSpPr/>
          <p:nvPr/>
        </p:nvSpPr>
        <p:spPr>
          <a:xfrm>
            <a:off x="502920" y="3520440"/>
            <a:ext cx="8321040" cy="1024128"/>
          </a:xfrm>
          <a:prstGeom prst="rect">
            <a:avLst/>
          </a:prstGeom>
          <a:solidFill>
            <a:srgbClr val="1A2235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17"/>
          <p:cNvSpPr/>
          <p:nvPr/>
        </p:nvSpPr>
        <p:spPr>
          <a:xfrm>
            <a:off x="502920" y="3520440"/>
            <a:ext cx="73152" cy="1024128"/>
          </a:xfrm>
          <a:prstGeom prst="rect">
            <a:avLst/>
          </a:prstGeom>
          <a:solidFill>
            <a:srgbClr val="38BDF8"/>
          </a:solidFill>
          <a:ln cap="flat" cmpd="sng" w="127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17"/>
          <p:cNvSpPr/>
          <p:nvPr/>
        </p:nvSpPr>
        <p:spPr>
          <a:xfrm>
            <a:off x="685800" y="3721608"/>
            <a:ext cx="7315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3200"/>
              <a:buFont typeface="Impact"/>
              <a:buNone/>
            </a:pPr>
            <a:r>
              <a:rPr b="1" i="0" lang="en-US" sz="3200" u="none" cap="none" strike="noStrike">
                <a:solidFill>
                  <a:srgbClr val="38BDF8"/>
                </a:solidFill>
                <a:latin typeface="Impact"/>
                <a:ea typeface="Impact"/>
                <a:cs typeface="Impact"/>
                <a:sym typeface="Impact"/>
              </a:rPr>
              <a:t>03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51" name="Google Shape;451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08760" y="3813048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452" name="Google Shape;452;p17"/>
          <p:cNvSpPr/>
          <p:nvPr/>
        </p:nvSpPr>
        <p:spPr>
          <a:xfrm>
            <a:off x="2057400" y="3593592"/>
            <a:ext cx="2743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Optimize Edge Deployment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7"/>
          <p:cNvSpPr/>
          <p:nvPr/>
        </p:nvSpPr>
        <p:spPr>
          <a:xfrm>
            <a:off x="2057400" y="3995928"/>
            <a:ext cx="6583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Make the full camera + model + dashboard pipeline efficient for real-time Jetson deployment. Model quantization and pipeline compression.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7"/>
          <p:cNvSpPr/>
          <p:nvPr/>
        </p:nvSpPr>
        <p:spPr>
          <a:xfrm>
            <a:off x="502920" y="4736592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FF87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00FF87"/>
                </a:solidFill>
                <a:latin typeface="Calibri"/>
                <a:ea typeface="Calibri"/>
                <a:cs typeface="Calibri"/>
                <a:sym typeface="Calibri"/>
              </a:rPr>
              <a:t>Long-term goal: move from a personalized prototype to a generalized silent-signal recognition system.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F1E"/>
        </a:solidFill>
      </p:bgPr>
    </p:bg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18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FF87"/>
          </a:solidFill>
          <a:ln cap="flat" cmpd="sng" w="12700">
            <a:solidFill>
              <a:srgbClr val="00FF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18"/>
          <p:cNvSpPr/>
          <p:nvPr/>
        </p:nvSpPr>
        <p:spPr>
          <a:xfrm>
            <a:off x="457200" y="914400"/>
            <a:ext cx="822960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FF87"/>
              </a:buClr>
              <a:buSzPts val="9600"/>
              <a:buFont typeface="Impact"/>
              <a:buNone/>
            </a:pPr>
            <a:r>
              <a:rPr b="1" i="0" lang="en-US" sz="9600" u="none" cap="none" strike="noStrike">
                <a:solidFill>
                  <a:srgbClr val="00FF87"/>
                </a:solidFill>
                <a:latin typeface="Impact"/>
                <a:ea typeface="Impact"/>
                <a:cs typeface="Impact"/>
                <a:sym typeface="Impact"/>
              </a:rPr>
              <a:t>Q &amp; A</a:t>
            </a:r>
            <a:endParaRPr b="0" i="0" sz="9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8"/>
          <p:cNvSpPr/>
          <p:nvPr/>
        </p:nvSpPr>
        <p:spPr>
          <a:xfrm>
            <a:off x="0" y="306324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rebuchet MS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Silent Signal Gesture Recognition System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8"/>
          <p:cNvSpPr/>
          <p:nvPr/>
        </p:nvSpPr>
        <p:spPr>
          <a:xfrm>
            <a:off x="0" y="3520440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Motion BiLSTM · MediaPipe · Jetson Edge AI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8"/>
          <p:cNvSpPr/>
          <p:nvPr/>
        </p:nvSpPr>
        <p:spPr>
          <a:xfrm>
            <a:off x="457200" y="40233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t/>
            </a:r>
            <a:endParaRPr b="1" sz="900">
              <a:solidFill>
                <a:srgbClr val="94A3B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t/>
            </a:r>
            <a:endParaRPr b="1" sz="900">
              <a:solidFill>
                <a:srgbClr val="94A3B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8"/>
          <p:cNvSpPr/>
          <p:nvPr/>
        </p:nvSpPr>
        <p:spPr>
          <a:xfrm>
            <a:off x="914400" y="4343400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Small personalized dataset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8"/>
          <p:cNvSpPr/>
          <p:nvPr/>
        </p:nvSpPr>
        <p:spPr>
          <a:xfrm>
            <a:off x="5029200" y="4343400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Similar gesture confusion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8"/>
          <p:cNvSpPr/>
          <p:nvPr/>
        </p:nvSpPr>
        <p:spPr>
          <a:xfrm>
            <a:off x="914400" y="4617720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MediaPipe dependency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18"/>
          <p:cNvSpPr/>
          <p:nvPr/>
        </p:nvSpPr>
        <p:spPr>
          <a:xfrm>
            <a:off x="5029200" y="4617720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Edge deployment constraints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